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2" autoAdjust="0"/>
    <p:restoredTop sz="95829" autoAdjust="0"/>
  </p:normalViewPr>
  <p:slideViewPr>
    <p:cSldViewPr snapToGrid="0" showGuides="1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7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  <c:pt idx="4">
                  <c:v>20XX</c:v>
                </c:pt>
              </c:strCache>
            </c:strRef>
          </c:cat>
          <c:val>
            <c:numRef>
              <c:f>Sheet1!$B$2:$B$6</c:f>
              <c:numCache>
                <c:formatCode>#,##0\ "Ft"</c:formatCode>
                <c:ptCount val="5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  <c:pt idx="4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DD-44BE-AC8F-003E903E01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adatsor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  <c:pt idx="4">
                  <c:v>20XX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B6DD-44BE-AC8F-003E903E01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3. adatsor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  <c:pt idx="4">
                  <c:v>20XX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B6DD-44BE-AC8F-003E903E0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8"/>
        <c:overlap val="100"/>
        <c:axId val="569261016"/>
        <c:axId val="569262984"/>
      </c:barChart>
      <c:catAx>
        <c:axId val="569261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569262984"/>
        <c:crosses val="autoZero"/>
        <c:auto val="1"/>
        <c:lblAlgn val="ctr"/>
        <c:lblOffset val="100"/>
        <c:noMultiLvlLbl val="0"/>
      </c:catAx>
      <c:valAx>
        <c:axId val="569262984"/>
        <c:scaling>
          <c:orientation val="minMax"/>
          <c:max val="50000"/>
        </c:scaling>
        <c:delete val="0"/>
        <c:axPos val="l"/>
        <c:majorGridlines>
          <c:spPr>
            <a:ln w="9525" cap="flat" cmpd="sng" algn="ctr">
              <a:solidFill>
                <a:srgbClr val="1B2434"/>
              </a:solidFill>
              <a:round/>
            </a:ln>
            <a:effectLst/>
          </c:spPr>
        </c:majorGridlines>
        <c:numFmt formatCode="#,##0\ &quot;Ft&quot;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569261016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Értékesítés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CF-41AE-A01F-A0D11D9A5E12}"/>
              </c:ext>
            </c:extLst>
          </c:dPt>
          <c:dPt>
            <c:idx val="1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2CF-41AE-A01F-A0D11D9A5E12}"/>
              </c:ext>
            </c:extLst>
          </c:dPt>
          <c:dPt>
            <c:idx val="2"/>
            <c:bubble3D val="0"/>
            <c:spPr>
              <a:solidFill>
                <a:srgbClr val="B5316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CF-41AE-A01F-A0D11D9A5E12}"/>
              </c:ext>
            </c:extLst>
          </c:dPt>
          <c:dPt>
            <c:idx val="3"/>
            <c:bubble3D val="0"/>
            <c:spPr>
              <a:solidFill>
                <a:srgbClr val="225B5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2CF-41AE-A01F-A0D11D9A5E12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CF-41AE-A01F-A0D11D9A5E12}"/>
              </c:ext>
            </c:extLst>
          </c:dPt>
          <c:dPt>
            <c:idx val="5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2CF-41AE-A01F-A0D11D9A5E12}"/>
              </c:ext>
            </c:extLst>
          </c:dPt>
          <c:cat>
            <c:strRef>
              <c:f>Sheet1!$A$2:$A$7</c:f>
              <c:strCache>
                <c:ptCount val="4"/>
                <c:pt idx="0">
                  <c:v>1. n.é.</c:v>
                </c:pt>
                <c:pt idx="1">
                  <c:v>2. n.é.</c:v>
                </c:pt>
                <c:pt idx="2">
                  <c:v>3. n.é.</c:v>
                </c:pt>
                <c:pt idx="3">
                  <c:v>4. n.é.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CF-41AE-A01F-A0D11D9A5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6"/>
        <c:holeSize val="49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334EB05-B65D-4357-89E6-1998AEC274BF}" type="datetime1">
              <a:rPr lang="hu-HU" smtClean="0"/>
              <a:t>2026. 02. 27.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734C57-E9E1-41CF-980D-894129B14651}" type="datetime1">
              <a:rPr lang="hu-HU" noProof="0" smtClean="0"/>
              <a:t>2026. 02. 27.</a:t>
            </a:fld>
            <a:endParaRPr lang="hu-HU" noProof="0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C40A10-6036-4879-816D-55C01FC94846}" type="slidenum">
              <a:rPr lang="hu-HU" noProof="0" smtClean="0"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4833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7154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42413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7161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56828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04597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85217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522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8719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11138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7022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48351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0996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7484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342253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24828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40083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18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53612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19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3160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20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16594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2488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12923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408388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90843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08755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hu-HU" smtClean="0"/>
              <a:t>26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25286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 emblémáv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hu-HU" noProof="0" dirty="0"/>
              <a:t>MESTERCÍM STÍLUSÁNAK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10" name="Kép helyőrzője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2315754" y="2253996"/>
            <a:ext cx="7521576" cy="100584"/>
            <a:chOff x="3631692" y="2253996"/>
            <a:chExt cx="7521576" cy="100584"/>
          </a:xfrm>
        </p:grpSpPr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7416000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11052684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3475528" y="5305363"/>
            <a:ext cx="5270119" cy="100584"/>
            <a:chOff x="3631690" y="2253996"/>
            <a:chExt cx="9179781" cy="100584"/>
          </a:xfrm>
        </p:grpSpPr>
        <p:sp>
          <p:nvSpPr>
            <p:cNvPr id="17" name="Ellipszis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902977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zis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12635892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akaszfejléc kép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Kép helyőrzője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hu-HU" noProof="0" dirty="0"/>
              <a:t>BEFEKTETŐI</a:t>
            </a:r>
            <a:br>
              <a:rPr lang="hu-HU" noProof="0" dirty="0"/>
            </a:br>
            <a:r>
              <a:rPr lang="hu-HU" noProof="0" dirty="0"/>
              <a:t>PREZENTÁCIÓ</a:t>
            </a:r>
            <a:br>
              <a:rPr lang="hu-HU" noProof="0" dirty="0"/>
            </a:br>
            <a:r>
              <a:rPr lang="hu-HU" noProof="0" dirty="0"/>
              <a:t>CÍM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grpSp>
        <p:nvGrpSpPr>
          <p:cNvPr id="9" name="Csoport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4562958" cy="102440"/>
            <a:chOff x="3631690" y="2252140"/>
            <a:chExt cx="7948012" cy="102440"/>
          </a:xfrm>
        </p:grpSpPr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1" name="Egyenes összekötő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7775641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11404123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13" name="Csoport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4582421" cy="100584"/>
            <a:chOff x="3631690" y="2253996"/>
            <a:chExt cx="7981919" cy="100584"/>
          </a:xfrm>
        </p:grpSpPr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7775646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11438030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Alcím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18" name="Kép helyőrzője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 kép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4825453" cy="100800"/>
            <a:chOff x="0" y="3240138"/>
            <a:chExt cx="4825453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4788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4724653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6" name="Szöveg helye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Kép helyőrzője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, kép és tartalom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2" name="Kép helyőrzője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 elrendezése 2. verz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3570592" cy="100800"/>
            <a:chOff x="0" y="3240138"/>
            <a:chExt cx="3570592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528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469792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zöveg helye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3" name="Kép helyőrzője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ok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" name="Kép helyőrzője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Szövegstílusok szerkesztése</a:t>
            </a:r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4" name="Kép helyőrzője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5" name="Szöveg helye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Szövegstílusok szerkesztése</a:t>
            </a:r>
          </a:p>
        </p:txBody>
      </p:sp>
      <p:sp>
        <p:nvSpPr>
          <p:cNvPr id="26" name="Szöveg helye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7" name="Kép helyőrzője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8" name="Szöveg helye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Szövegstílusok szerkesztése</a:t>
            </a:r>
          </a:p>
        </p:txBody>
      </p:sp>
      <p:sp>
        <p:nvSpPr>
          <p:cNvPr id="29" name="Szöveg helye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0" name="Kép helyőrzője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31" name="Szöveg helye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Szövegstílusok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or és tartalom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967474" cy="100800"/>
            <a:chOff x="0" y="3240138"/>
            <a:chExt cx="2967474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91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866674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6" name="Szöveg helye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Kép helyőrzője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alcím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ép helyőrzője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Csoport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4521279" y="1373283"/>
            <a:ext cx="3149438" cy="100800"/>
            <a:chOff x="3149478" y="1373283"/>
            <a:chExt cx="3149438" cy="100800"/>
          </a:xfrm>
        </p:grpSpPr>
        <p:grpSp>
          <p:nvGrpSpPr>
            <p:cNvPr id="15" name="Csoport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3149478" y="1373283"/>
              <a:ext cx="3149438" cy="100800"/>
              <a:chOff x="0" y="3237441"/>
              <a:chExt cx="3149438" cy="100800"/>
            </a:xfrm>
          </p:grpSpPr>
          <p:cxnSp>
            <p:nvCxnSpPr>
              <p:cNvPr id="13" name="Egyenes összekötő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0" y="3290538"/>
                <a:ext cx="309600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lipszis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304863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hu-HU" noProof="0" dirty="0"/>
              </a:p>
            </p:txBody>
          </p:sp>
        </p:grpSp>
        <p:sp>
          <p:nvSpPr>
            <p:cNvPr id="21" name="Ellipszis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314947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ármas tartalom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500289" y="1375202"/>
            <a:ext cx="4685817" cy="100800"/>
            <a:chOff x="308309" y="3240138"/>
            <a:chExt cx="2925663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09" y="3290538"/>
              <a:ext cx="289955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168248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1</a:t>
            </a:r>
          </a:p>
        </p:txBody>
      </p:sp>
      <p:sp>
        <p:nvSpPr>
          <p:cNvPr id="34" name="Szöveg helye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5" name="Szöveg helye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</a:t>
            </a:r>
          </a:p>
        </p:txBody>
      </p: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7" name="Szöveg helye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8" name="Szöveg helye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3</a:t>
            </a:r>
          </a:p>
        </p:txBody>
      </p:sp>
      <p:sp>
        <p:nvSpPr>
          <p:cNvPr id="39" name="Szöveg helye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ámok összehasonlítá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12 345 Ft</a:t>
            </a:r>
          </a:p>
        </p:txBody>
      </p:sp>
      <p:sp>
        <p:nvSpPr>
          <p:cNvPr id="34" name="Szöveg helye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6" name="Szöveg helye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6 789 Ft</a:t>
            </a:r>
          </a:p>
        </p:txBody>
      </p:sp>
      <p:sp>
        <p:nvSpPr>
          <p:cNvPr id="27" name="Szöveg helye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8" name="Szöveg helye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talom elrendezése körök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3747825" cy="100800"/>
            <a:chOff x="-1228304" y="3240138"/>
            <a:chExt cx="3747825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708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1872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6" name="Szöveg helye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zis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2" name="Ellipszis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7" name="Szöveg helye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25 Ft</a:t>
            </a:r>
          </a:p>
        </p:txBody>
      </p:sp>
      <p:sp>
        <p:nvSpPr>
          <p:cNvPr id="28" name="Szöveg helye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1. szakasz</a:t>
            </a:r>
            <a:br>
              <a:rPr lang="hu-HU" noProof="0" dirty="0"/>
            </a:br>
            <a:r>
              <a:rPr lang="hu-HU" noProof="0" dirty="0"/>
              <a:t>Cím</a:t>
            </a:r>
          </a:p>
        </p:txBody>
      </p:sp>
      <p:sp>
        <p:nvSpPr>
          <p:cNvPr id="29" name="Szöveg helye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MILLIÁRD</a:t>
            </a:r>
          </a:p>
        </p:txBody>
      </p:sp>
      <p:sp>
        <p:nvSpPr>
          <p:cNvPr id="30" name="Szöveg helye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50 Ft</a:t>
            </a:r>
          </a:p>
        </p:txBody>
      </p:sp>
      <p:sp>
        <p:nvSpPr>
          <p:cNvPr id="31" name="Szöveg helye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1. szakasz</a:t>
            </a:r>
            <a:br>
              <a:rPr lang="hu-HU" noProof="0" dirty="0"/>
            </a:br>
            <a:r>
              <a:rPr lang="hu-HU" noProof="0" dirty="0"/>
              <a:t>Cím</a:t>
            </a:r>
          </a:p>
        </p:txBody>
      </p:sp>
      <p:sp>
        <p:nvSpPr>
          <p:cNvPr id="32" name="Szöveg helye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MILLIÁRD</a:t>
            </a:r>
          </a:p>
        </p:txBody>
      </p:sp>
      <p:sp>
        <p:nvSpPr>
          <p:cNvPr id="33" name="Szöveg helye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100 Ft</a:t>
            </a:r>
          </a:p>
        </p:txBody>
      </p:sp>
      <p:sp>
        <p:nvSpPr>
          <p:cNvPr id="34" name="Szöveg helye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1. szakasz</a:t>
            </a:r>
            <a:br>
              <a:rPr lang="hu-HU" noProof="0" dirty="0"/>
            </a:br>
            <a:r>
              <a:rPr lang="hu-HU" noProof="0" dirty="0"/>
              <a:t>Cím</a:t>
            </a:r>
          </a:p>
        </p:txBody>
      </p:sp>
      <p:sp>
        <p:nvSpPr>
          <p:cNvPr id="35" name="Szöveg helye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MILLIÁRD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t tartalom alcímek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 dirty="0"/>
              <a:t>KATTINTSON A CÍM SZERKESZTÉSÉHEZ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4" name="Szöveg helye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elrendez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28" y="1374243"/>
            <a:ext cx="5019440" cy="100800"/>
            <a:chOff x="646001" y="3239179"/>
            <a:chExt cx="2558922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01" y="3290538"/>
              <a:ext cx="253269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153535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1" name="Kép helyőrzője 11" descr="Versenytársak emblémáinak negyedrésze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2. versenytárs</a:t>
            </a:r>
          </a:p>
          <a:p>
            <a:pPr rtl="0"/>
            <a:r>
              <a:rPr lang="hu-HU" noProof="0" dirty="0"/>
              <a:t>Embléma</a:t>
            </a:r>
          </a:p>
        </p:txBody>
      </p:sp>
      <p:sp>
        <p:nvSpPr>
          <p:cNvPr id="22" name="Kép helyőrzője 11" descr="Versenytársak emblémáinak negyedrésze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1. versenytárs</a:t>
            </a:r>
          </a:p>
          <a:p>
            <a:pPr rtl="0"/>
            <a:r>
              <a:rPr lang="hu-HU" noProof="0" dirty="0"/>
              <a:t>Embléma</a:t>
            </a:r>
          </a:p>
        </p:txBody>
      </p:sp>
      <p:sp>
        <p:nvSpPr>
          <p:cNvPr id="25" name="Kép helyőrzője 11" descr="Versenytársak emblémáinak negyedrésze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3. versenytárs</a:t>
            </a:r>
          </a:p>
          <a:p>
            <a:pPr rtl="0"/>
            <a:r>
              <a:rPr lang="hu-HU" noProof="0" dirty="0"/>
              <a:t>Embléma</a:t>
            </a:r>
          </a:p>
        </p:txBody>
      </p:sp>
      <p:sp>
        <p:nvSpPr>
          <p:cNvPr id="26" name="Kép helyőrzője 11" descr="Versenytársak emblémáinak negyedrésze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4. versenytárs</a:t>
            </a:r>
          </a:p>
          <a:p>
            <a:pPr rtl="0"/>
            <a:r>
              <a:rPr lang="hu-HU" noProof="0" dirty="0" err="1"/>
              <a:t>Emblémaя</a:t>
            </a:r>
            <a:endParaRPr lang="hu-HU" noProof="0" dirty="0"/>
          </a:p>
        </p:txBody>
      </p:sp>
      <p:sp>
        <p:nvSpPr>
          <p:cNvPr id="27" name="Kép helyőrzője 11" descr="Versenytársak emblémáinak negyedrésze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5. versenytárs</a:t>
            </a:r>
          </a:p>
          <a:p>
            <a:pPr rtl="0"/>
            <a:r>
              <a:rPr lang="hu-HU" noProof="0" dirty="0"/>
              <a:t>Embléma</a:t>
            </a:r>
          </a:p>
        </p:txBody>
      </p:sp>
      <p:sp>
        <p:nvSpPr>
          <p:cNvPr id="28" name="Kép helyőrzője 11" descr="Versenytársak emblémáinak negyedrésze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 dirty="0"/>
              <a:t>6. versenytárs</a:t>
            </a:r>
          </a:p>
          <a:p>
            <a:pPr rtl="0"/>
            <a:r>
              <a:rPr lang="hu-HU" noProof="0" dirty="0"/>
              <a:t>Embléma</a:t>
            </a:r>
          </a:p>
        </p:txBody>
      </p:sp>
      <p:sp>
        <p:nvSpPr>
          <p:cNvPr id="29" name="Szöveg helye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hu-HU" noProof="0" dirty="0"/>
              <a:t>Drágább</a:t>
            </a:r>
          </a:p>
        </p:txBody>
      </p:sp>
      <p:sp>
        <p:nvSpPr>
          <p:cNvPr id="30" name="Szöveg helye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hu-HU" noProof="0" dirty="0"/>
              <a:t>Kevésbé kényelmes</a:t>
            </a:r>
          </a:p>
        </p:txBody>
      </p:sp>
      <p:sp>
        <p:nvSpPr>
          <p:cNvPr id="31" name="Szöveg helye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hu-HU" noProof="0" dirty="0"/>
              <a:t>Kényelmesebb</a:t>
            </a:r>
          </a:p>
        </p:txBody>
      </p:sp>
      <p:sp>
        <p:nvSpPr>
          <p:cNvPr id="32" name="Kép helyőrzője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33" name="Szöveg helye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hu-HU" noProof="0" dirty="0"/>
              <a:t>Kevésbé drága</a:t>
            </a:r>
          </a:p>
        </p:txBody>
      </p:sp>
      <p:grpSp>
        <p:nvGrpSpPr>
          <p:cNvPr id="4" name="Csoport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Egyenes összekötő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Ellipszis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37" name="Csoport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Egyenes összekötő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Ellipszis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árom szakasz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769287" cy="100800"/>
            <a:chOff x="0" y="3240138"/>
            <a:chExt cx="3769287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708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66848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zöveg helye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1</a:t>
            </a:r>
          </a:p>
        </p:txBody>
      </p:sp>
      <p:sp>
        <p:nvSpPr>
          <p:cNvPr id="22" name="Szöveg helye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</a:t>
            </a:r>
          </a:p>
        </p:txBody>
      </p:sp>
      <p:sp>
        <p:nvSpPr>
          <p:cNvPr id="23" name="Szöveg helye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3</a:t>
            </a:r>
          </a:p>
        </p:txBody>
      </p: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 helye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0" name="Szöveg helye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1" name="Szöveg helye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3" name="Szöveg helye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4" name="Szöveg helye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5" name="Szöveg helye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6" name="Szöveg helye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7" name="Szöveg helye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8" name="Szöveg helye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ok és diagramok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 dirty="0"/>
              <a:t>KATTINTSON A CÍM SZERKESZTÉSÉHEZ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24" name="Szöveg helye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22" name="Tartalom helye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temterv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hu-HU" noProof="0" dirty="0"/>
              <a:t>ÜTEMTERV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797125" y="1375202"/>
            <a:ext cx="3384854" cy="100800"/>
            <a:chOff x="2734299" y="3240138"/>
            <a:chExt cx="1725599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34299" y="3290538"/>
              <a:ext cx="170314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408510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20XX</a:t>
            </a:r>
          </a:p>
        </p:txBody>
      </p:sp>
      <p:sp>
        <p:nvSpPr>
          <p:cNvPr id="34" name="Szöveg helye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zis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9" name="Ellipszis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30" name="Ellipszis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31" name="Ellipszis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32" name="Szöveg helye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3" name="Szöveg helye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5" name="Szöveg helye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7" name="Szöveg helye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8" name="Szöveg helye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9" name="Szöveg helye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0" name="Szöveg helye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20XX</a:t>
            </a:r>
          </a:p>
        </p:txBody>
      </p:sp>
      <p:sp>
        <p:nvSpPr>
          <p:cNvPr id="41" name="Szöveg helye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20XX</a:t>
            </a:r>
          </a:p>
        </p:txBody>
      </p:sp>
      <p:sp>
        <p:nvSpPr>
          <p:cNvPr id="42" name="Szöveg helye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 rtl="0"/>
            <a:r>
              <a:rPr lang="hu-HU" noProof="0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áblázatos elrendez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832852" cy="100800"/>
            <a:chOff x="-1228304" y="3240138"/>
            <a:chExt cx="3832852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780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0374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áblázat helye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hu-HU" noProof="0"/>
              <a:t>Táblázat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csapat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542109" cy="100800"/>
            <a:chOff x="0" y="3240138"/>
            <a:chExt cx="3542109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492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441309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 helye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0" name="Szöveg helye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1" name="Szöveg helye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9" name="Kép helyőrzője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35" name="Kép helyőrzője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36" name="Kép helyőrzője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37" name="Szöveg helye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8" name="Szöveg helye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9" name="Szöveg helye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1" name="Szöveg helye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2" name="Szöveg helye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9" name="Szöveg helye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csapat tartalmának elrendezési dias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282420" y="1375202"/>
            <a:ext cx="2893030" cy="100800"/>
            <a:chOff x="449816" y="3240138"/>
            <a:chExt cx="1806315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9816" y="3290538"/>
              <a:ext cx="178019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190407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2" name="Szöveg helye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" name="Kép helyőrzője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zöveg helye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1" name="Szöveg helye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2" name="Kép helyőrzőj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43" name="Egyenes összekötő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zöveg helye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5" name="Szöveg helye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7" name="Szöveg helye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8" name="Szöveg helye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50" name="Szöveg helye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51" name="Szöveg helye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53" name="Szöveg helye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54" name="Szöveg helye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56" name="Egyenes összekötő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Kép helyőrzője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55" name="Kép helyőrzője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46" name="Kép helyőrzője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52" name="Kép helyőrzője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tadiagram elrendez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4812585" cy="100800"/>
            <a:chOff x="-1228304" y="3250524"/>
            <a:chExt cx="4812585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4752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483481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 helye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37" name="Szöveg helye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39" name="Szöveg helye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40" name="Szöveg helye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42" name="Szöveg helye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43" name="Szöveg helye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45" name="Szöveg helye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46" name="Szöveg helye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48" name="Szöveg helye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49" name="Szöveg helye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51" name="Szöveg helye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1 500 000 Ft</a:t>
            </a:r>
          </a:p>
        </p:txBody>
      </p:sp>
      <p:sp>
        <p:nvSpPr>
          <p:cNvPr id="52" name="Szöveg helye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dirty="0"/>
              <a:t>Kategória címe</a:t>
            </a:r>
          </a:p>
        </p:txBody>
      </p:sp>
      <p:sp>
        <p:nvSpPr>
          <p:cNvPr id="8" name="Ellipszis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4" name="Ellipszis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5" name="Ellipszis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6" name="Ellipszis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7" name="Ellipszis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8" name="Ellipszis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12" name="Diagram helye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Diagram beszúrásához kattintson az ikonra</a:t>
            </a:r>
            <a:endParaRPr lang="hu-HU" noProof="0" dirty="0"/>
          </a:p>
        </p:txBody>
      </p:sp>
      <p:sp>
        <p:nvSpPr>
          <p:cNvPr id="35" name="Ellipszis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38" name="Ellipszis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és tartalom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A SZERKESZTÉSHEZ KATTINTSON IDE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4" name="Szöveg helye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2" name="Kép helyőrzője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öszönet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Kép helyőrzője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500"/>
            </a:lvl1pPr>
          </a:lstStyle>
          <a:p>
            <a:pPr rtl="0"/>
            <a:r>
              <a:rPr lang="hu-HU" noProof="0" dirty="0"/>
              <a:t>KÖSZÖNJÜK!</a:t>
            </a:r>
          </a:p>
        </p:txBody>
      </p:sp>
      <p:sp>
        <p:nvSpPr>
          <p:cNvPr id="22" name="Szöveg helye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Katona Kevin</a:t>
            </a:r>
          </a:p>
        </p:txBody>
      </p:sp>
      <p:sp>
        <p:nvSpPr>
          <p:cNvPr id="23" name="Szöveg helye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Telefonszám:</a:t>
            </a:r>
          </a:p>
        </p:txBody>
      </p:sp>
      <p:sp>
        <p:nvSpPr>
          <p:cNvPr id="24" name="Szöveg helye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+7 888 999-000-11</a:t>
            </a:r>
          </a:p>
        </p:txBody>
      </p:sp>
      <p:sp>
        <p:nvSpPr>
          <p:cNvPr id="25" name="Szöveg helye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E-mail-cím:</a:t>
            </a:r>
          </a:p>
        </p:txBody>
      </p:sp>
      <p:sp>
        <p:nvSpPr>
          <p:cNvPr id="26" name="Szöveg helye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Bergqvist@vanarsdelltd.com</a:t>
            </a:r>
          </a:p>
        </p:txBody>
      </p:sp>
      <p:sp>
        <p:nvSpPr>
          <p:cNvPr id="27" name="Szöveg helye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noProof="0" dirty="0"/>
              <a:t>Weboldal:</a:t>
            </a:r>
          </a:p>
        </p:txBody>
      </p:sp>
      <p:sp>
        <p:nvSpPr>
          <p:cNvPr id="28" name="Szöveg helye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hu-HU" noProof="0" dirty="0"/>
              <a:t>www.vanarsdelltd.com</a:t>
            </a:r>
          </a:p>
        </p:txBody>
      </p:sp>
      <p:grpSp>
        <p:nvGrpSpPr>
          <p:cNvPr id="4" name="Csoport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7" y="2750589"/>
            <a:ext cx="4706083" cy="100800"/>
            <a:chOff x="808552" y="2750589"/>
            <a:chExt cx="4706083" cy="100800"/>
          </a:xfrm>
        </p:grpSpPr>
        <p:grpSp>
          <p:nvGrpSpPr>
            <p:cNvPr id="11" name="Csoport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52" y="2750589"/>
              <a:ext cx="4649297" cy="100800"/>
              <a:chOff x="402967" y="3240138"/>
              <a:chExt cx="3031433" cy="100800"/>
            </a:xfrm>
          </p:grpSpPr>
          <p:cxnSp>
            <p:nvCxnSpPr>
              <p:cNvPr id="12" name="Egyenes összekötő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402967" y="3285674"/>
                <a:ext cx="298103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Ellipszis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hu-HU" noProof="0" dirty="0"/>
              </a:p>
            </p:txBody>
          </p:sp>
        </p:grpSp>
        <p:sp>
          <p:nvSpPr>
            <p:cNvPr id="29" name="Ellipszis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413834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32" name="Csoport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7" y="1660573"/>
            <a:ext cx="4711605" cy="105664"/>
            <a:chOff x="808552" y="2745725"/>
            <a:chExt cx="4711605" cy="105664"/>
          </a:xfrm>
        </p:grpSpPr>
        <p:grpSp>
          <p:nvGrpSpPr>
            <p:cNvPr id="33" name="Csoport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52" y="2750589"/>
              <a:ext cx="4649297" cy="100800"/>
              <a:chOff x="402967" y="3240138"/>
              <a:chExt cx="3031433" cy="100800"/>
            </a:xfrm>
          </p:grpSpPr>
          <p:cxnSp>
            <p:nvCxnSpPr>
              <p:cNvPr id="35" name="Egyenes összekötő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402967" y="3285674"/>
                <a:ext cx="2981034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Ellipszis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hu-HU" noProof="0" dirty="0"/>
              </a:p>
            </p:txBody>
          </p:sp>
        </p:grpSp>
        <p:sp>
          <p:nvSpPr>
            <p:cNvPr id="34" name="Ellipszis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419356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ggelék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Kép helyőrzője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hu-HU" noProof="0" dirty="0"/>
              <a:t>FÜGGELÉK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grpSp>
        <p:nvGrpSpPr>
          <p:cNvPr id="4" name="Csoport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4755608" y="1509426"/>
            <a:ext cx="2719696" cy="100800"/>
            <a:chOff x="4732222" y="1509426"/>
            <a:chExt cx="2719696" cy="100800"/>
          </a:xfrm>
        </p:grpSpPr>
        <p:grpSp>
          <p:nvGrpSpPr>
            <p:cNvPr id="11" name="Csoport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4732222" y="1509426"/>
              <a:ext cx="2669296" cy="100800"/>
              <a:chOff x="1693969" y="3240138"/>
              <a:chExt cx="1740431" cy="100800"/>
            </a:xfrm>
          </p:grpSpPr>
          <p:cxnSp>
            <p:nvCxnSpPr>
              <p:cNvPr id="12" name="Egyenes összekötő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1693969" y="3290538"/>
                <a:ext cx="169003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Ellipszis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hu-HU" noProof="0" dirty="0"/>
              </a:p>
            </p:txBody>
          </p:sp>
        </p:grpSp>
        <p:sp>
          <p:nvSpPr>
            <p:cNvPr id="21" name="Ellipszis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7351117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jánlók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hu-HU" noProof="0" dirty="0"/>
              <a:t>VÉLEMÉNYEK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8162384" y="1375202"/>
            <a:ext cx="4021267" cy="100800"/>
            <a:chOff x="680710" y="3240138"/>
            <a:chExt cx="2510745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0710" y="3290538"/>
              <a:ext cx="247249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12573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40" name="Szöveg helye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Ügyfél címe</a:t>
            </a:r>
          </a:p>
        </p:txBody>
      </p:sp>
      <p:sp>
        <p:nvSpPr>
          <p:cNvPr id="41" name="Szöveg helye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 szerkesztése</a:t>
            </a:r>
            <a:br>
              <a:rPr lang="hu-HU" noProof="0" dirty="0"/>
            </a:br>
            <a:r>
              <a:rPr lang="hu-HU" noProof="0" dirty="0"/>
              <a:t>szöveg</a:t>
            </a:r>
          </a:p>
        </p:txBody>
      </p:sp>
      <p:sp>
        <p:nvSpPr>
          <p:cNvPr id="42" name="Kép helyőrzőj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43" name="Egyenes összekötő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24" name="Ellipszis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58" name="Szöveg helye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Ügyfél címe</a:t>
            </a:r>
          </a:p>
        </p:txBody>
      </p:sp>
      <p:sp>
        <p:nvSpPr>
          <p:cNvPr id="59" name="Szöveg helye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 szerkesztése</a:t>
            </a:r>
            <a:br>
              <a:rPr lang="hu-HU" noProof="0" dirty="0"/>
            </a:br>
            <a:r>
              <a:rPr lang="hu-HU" noProof="0" dirty="0"/>
              <a:t>szöveg</a:t>
            </a:r>
          </a:p>
        </p:txBody>
      </p:sp>
      <p:sp>
        <p:nvSpPr>
          <p:cNvPr id="60" name="Kép helyőrzője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zöveg helye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3" name="Ellipszis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64" name="Szöveg helye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Ügyfél címe</a:t>
            </a:r>
          </a:p>
        </p:txBody>
      </p:sp>
      <p:sp>
        <p:nvSpPr>
          <p:cNvPr id="65" name="Szöveg helye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 szerkesztése</a:t>
            </a:r>
            <a:br>
              <a:rPr lang="hu-HU" noProof="0" dirty="0"/>
            </a:br>
            <a:r>
              <a:rPr lang="hu-HU" noProof="0" dirty="0"/>
              <a:t>szöveg</a:t>
            </a:r>
          </a:p>
        </p:txBody>
      </p:sp>
      <p:sp>
        <p:nvSpPr>
          <p:cNvPr id="66" name="Kép helyőrzője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cxnSp>
        <p:nvCxnSpPr>
          <p:cNvPr id="67" name="Egyenes összekötő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zöveg helye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9" name="Ellipszis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esettanulmány tartalmának elrendezé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hu-HU" noProof="0" dirty="0"/>
              <a:t>ESETTANULMÁNY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Kép helyőrzőj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5053179" cy="100800"/>
            <a:chOff x="-1228304" y="3240138"/>
            <a:chExt cx="5053179" cy="100800"/>
          </a:xfrm>
        </p:grpSpPr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500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724075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Ellipszis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zis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zöveg helye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8" name="Szöveg helye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telefon és tartalomelrendez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 dirty="0"/>
              <a:t>KATTINTSON A CÍM SZERKESZTÉSÉHEZ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10" name="Kép helyőrzőj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11" name="Csoport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Egyenes összekötő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lipszis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zis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zis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3" name="Szöveg helye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dirty="0"/>
              <a:t>Mintaszöveg szerkesztése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1" name="Kép helyőrzője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2" name="Kép helyőrzője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z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églalap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22" name="Szöveg helye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dirty="0"/>
              <a:t>Mintaszöveg</a:t>
            </a:r>
            <a:br>
              <a:rPr lang="hu-HU" noProof="0" dirty="0"/>
            </a:br>
            <a:r>
              <a:rPr lang="hu-HU" noProof="0" dirty="0"/>
              <a:t>stílusok</a:t>
            </a:r>
          </a:p>
        </p:txBody>
      </p:sp>
      <p:sp>
        <p:nvSpPr>
          <p:cNvPr id="23" name="Szöveg helye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24" name="Kép helyőrzője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5" name="Kép helyőrzője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6" name="Szöveg helye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27" name="Szöveg helye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dirty="0"/>
              <a:t>Mintaszöveg</a:t>
            </a:r>
            <a:br>
              <a:rPr lang="hu-HU" noProof="0" dirty="0"/>
            </a:br>
            <a:r>
              <a:rPr lang="hu-HU" noProof="0" dirty="0"/>
              <a:t>stílusok</a:t>
            </a:r>
          </a:p>
        </p:txBody>
      </p:sp>
      <p:sp>
        <p:nvSpPr>
          <p:cNvPr id="28" name="Kép helyőrzője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29" name="Szöveg helye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0" name="Szöveg helye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dirty="0"/>
              <a:t>Mintaszöveg</a:t>
            </a:r>
            <a:br>
              <a:rPr lang="hu-HU" noProof="0" dirty="0"/>
            </a:br>
            <a:r>
              <a:rPr lang="hu-HU" noProof="0" dirty="0"/>
              <a:t>stílusok</a:t>
            </a:r>
          </a:p>
        </p:txBody>
      </p:sp>
      <p:sp>
        <p:nvSpPr>
          <p:cNvPr id="32" name="Szöveg helye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3" name="Szöveg helye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34" name="Szöveg helye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hu-HU" noProof="0" dirty="0"/>
              <a:t>1</a:t>
            </a:r>
          </a:p>
        </p:txBody>
      </p:sp>
      <p:sp>
        <p:nvSpPr>
          <p:cNvPr id="36" name="Szöveg helye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noProof="0" dirty="0"/>
              <a:t>1</a:t>
            </a:r>
          </a:p>
        </p:txBody>
      </p:sp>
      <p:sp>
        <p:nvSpPr>
          <p:cNvPr id="37" name="Szöveg helye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noProof="0" dirty="0"/>
              <a:t>1</a:t>
            </a:r>
          </a:p>
        </p:txBody>
      </p:sp>
      <p:sp>
        <p:nvSpPr>
          <p:cNvPr id="40" name="Szöveg helye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38" name="Cím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hu-HU" noProof="0" dirty="0"/>
              <a:t>A SABLON HASZNÁLATA</a:t>
            </a:r>
          </a:p>
        </p:txBody>
      </p:sp>
      <p:sp>
        <p:nvSpPr>
          <p:cNvPr id="41" name="Kép helyőrzője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grpSp>
        <p:nvGrpSpPr>
          <p:cNvPr id="31" name="Csoport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Ellipszis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hu-HU" noProof="0" dirty="0"/>
              <a:t>MESTERCÍM STÍLUSÁNAK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grpSp>
        <p:nvGrpSpPr>
          <p:cNvPr id="15" name="Csoport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3" name="Egyenes összekötő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Ellipszis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zis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hu-HU" noProof="0" dirty="0"/>
              <a:t>BEFEKTETŐI</a:t>
            </a:r>
            <a:br>
              <a:rPr lang="hu-HU" noProof="0" dirty="0"/>
            </a:br>
            <a:r>
              <a:rPr lang="hu-HU" noProof="0" dirty="0"/>
              <a:t>PREZENTÁCIÓ</a:t>
            </a:r>
            <a:br>
              <a:rPr lang="hu-HU" noProof="0" dirty="0"/>
            </a:br>
            <a:r>
              <a:rPr lang="hu-HU" noProof="0" dirty="0"/>
              <a:t>CÍM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t>‹#›</a:t>
            </a:fld>
            <a:endParaRPr lang="hu-HU" noProof="0" dirty="0"/>
          </a:p>
        </p:txBody>
      </p:sp>
      <p:grpSp>
        <p:nvGrpSpPr>
          <p:cNvPr id="9" name="Csoport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1" name="Egyenes összekötő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lipszis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grpSp>
        <p:nvGrpSpPr>
          <p:cNvPr id="13" name="Csoport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Ellipszis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  <p:cxnSp>
          <p:nvCxnSpPr>
            <p:cNvPr id="15" name="Egyenes összekötő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hu-HU" noProof="0" dirty="0"/>
            </a:p>
          </p:txBody>
        </p:sp>
      </p:grpSp>
      <p:sp>
        <p:nvSpPr>
          <p:cNvPr id="17" name="Alcím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8" name="Tartalom helye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Szöveg helye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8" name="Tartalom helye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9" name="Szöveg helye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10" name="Tartalom helye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11" name="Kép helyőrzője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hu-HU" noProof="0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-HU" noProof="0" dirty="0"/>
              <a:t>Mintacím stílusának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20XX.HH.NN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hu-HU" noProof="0" dirty="0"/>
              <a:t>ÉLŐLÁB HOZZÁADÁSA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8D581BC7-E183-40DB-AC97-C19EA4EB8894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zis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noProof="0" dirty="0"/>
          </a:p>
        </p:txBody>
      </p: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89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8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jpe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jpg"/><Relationship Id="rId5" Type="http://schemas.openxmlformats.org/officeDocument/2006/relationships/image" Target="../media/image25.jp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5" Type="http://schemas.openxmlformats.org/officeDocument/2006/relationships/chart" Target="../charts/chart2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6.jpe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7.jpe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1.jpeg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jpg"/><Relationship Id="rId5" Type="http://schemas.openxmlformats.org/officeDocument/2006/relationships/image" Target="../media/image25.jpg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006808&amp;clcid=0x409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54F6FF42-70E3-4A7F-B5D8-2928FCB7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043" y="2462986"/>
            <a:ext cx="10220528" cy="1786094"/>
          </a:xfrm>
        </p:spPr>
        <p:txBody>
          <a:bodyPr rtlCol="0">
            <a:normAutofit/>
          </a:bodyPr>
          <a:lstStyle/>
          <a:p>
            <a:pPr rtl="0"/>
            <a:r>
              <a:rPr lang="hu-HU" dirty="0"/>
              <a:t>HOTELFLOW </a:t>
            </a:r>
            <a:br>
              <a:rPr lang="hu-HU" dirty="0"/>
            </a:br>
            <a:endParaRPr lang="hu-HU" dirty="0"/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hu-HU" dirty="0"/>
              <a:t>„Nem </a:t>
            </a:r>
            <a:r>
              <a:rPr lang="hu-HU" dirty="0" err="1"/>
              <a:t>kókányolunk</a:t>
            </a:r>
            <a:r>
              <a:rPr lang="hu-HU" dirty="0"/>
              <a:t>, de tudunk”</a:t>
            </a:r>
          </a:p>
        </p:txBody>
      </p:sp>
      <p:pic>
        <p:nvPicPr>
          <p:cNvPr id="10" name="Kép helye 9">
            <a:extLst>
              <a:ext uri="{FF2B5EF4-FFF2-40B4-BE49-F238E27FC236}">
                <a16:creationId xmlns:a16="http://schemas.microsoft.com/office/drawing/2014/main" id="{762912B0-1698-4D01-81F9-D7805A863C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4411" b="244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CB42B89C-8D04-47C2-9942-FD44452D41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BEMUTATKOZÁS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184F8-7D3E-4F39-85DA-53F65AF61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7BC30F8-1890-4494-869A-DCD11E9F5FF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 </a:t>
            </a:r>
          </a:p>
        </p:txBody>
      </p:sp>
      <p:pic>
        <p:nvPicPr>
          <p:cNvPr id="20" name="Kép helyőrzője 19" descr="Absztrakt háttér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2</a:t>
            </a:fld>
            <a:endParaRPr lang="hu-HU" dirty="0"/>
          </a:p>
        </p:txBody>
      </p:sp>
      <p:sp>
        <p:nvSpPr>
          <p:cNvPr id="7" name="Élőláb helye 6">
            <a:extLst>
              <a:ext uri="{FF2B5EF4-FFF2-40B4-BE49-F238E27FC236}">
                <a16:creationId xmlns:a16="http://schemas.microsoft.com/office/drawing/2014/main" id="{80B83D80-B29B-48B9-9B34-76AD9399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A7271147-093C-4AE4-8DB3-B51D6C633C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Kép helyőrzője 19" descr="Absztrakt háttér&#10;">
            <a:extLst>
              <a:ext uri="{FF2B5EF4-FFF2-40B4-BE49-F238E27FC236}">
                <a16:creationId xmlns:a16="http://schemas.microsoft.com/office/drawing/2014/main" id="{3330B498-1497-4DA8-99F4-8F8159B24F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FF93F71D-1663-42FA-A91E-FA23F03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PROBLÉMA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F62CA978-7F10-45ED-A5E7-73BCC796D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1C19D996-1EAD-4EC5-92CC-5A60F9A9E91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94C7D40-6709-40D4-B0FB-9D6311A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3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01DB817-586B-493A-922D-54010C88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A96AB769-C08B-4A71-BEE7-D771D274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76429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helyőrzője 8" descr="Céges embléma">
            <a:extLst>
              <a:ext uri="{FF2B5EF4-FFF2-40B4-BE49-F238E27FC236}">
                <a16:creationId xmlns:a16="http://schemas.microsoft.com/office/drawing/2014/main" id="{31A4E7D9-EFE3-4156-8990-1ABAF1C380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0406C22-D0C4-4D8E-86F7-1A902F1C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MEGOLDÁS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1EBE5B37-5B62-411B-BD45-E04DD958A3F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</a:p>
          <a:p>
            <a:pPr rtl="0"/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pic>
        <p:nvPicPr>
          <p:cNvPr id="18" name="Kép helyőrzője 17" descr="Absztrakt háttér">
            <a:extLst>
              <a:ext uri="{FF2B5EF4-FFF2-40B4-BE49-F238E27FC236}">
                <a16:creationId xmlns:a16="http://schemas.microsoft.com/office/drawing/2014/main" id="{FA9DAA9F-5926-4BC1-8F7B-06E0B1C2F01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C5328BF-D489-4F39-BA27-5AD38E91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4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77B5262-30A5-4063-A21E-56FCACC4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1F813B4-2C3F-45B0-A38D-A3FE79E6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214944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helyőrzője 5" descr="Céges embléma">
            <a:extLst>
              <a:ext uri="{FF2B5EF4-FFF2-40B4-BE49-F238E27FC236}">
                <a16:creationId xmlns:a16="http://schemas.microsoft.com/office/drawing/2014/main" id="{050063B3-C0D3-4BFD-82C5-423222881E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67" name="Cím 66">
            <a:extLst>
              <a:ext uri="{FF2B5EF4-FFF2-40B4-BE49-F238E27FC236}">
                <a16:creationId xmlns:a16="http://schemas.microsoft.com/office/drawing/2014/main" id="{E72CC338-4598-4AF3-B140-D7F632D2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TERMÉK DIA</a:t>
            </a:r>
          </a:p>
        </p:txBody>
      </p:sp>
      <p:sp>
        <p:nvSpPr>
          <p:cNvPr id="68" name="Szöveg helye 67">
            <a:extLst>
              <a:ext uri="{FF2B5EF4-FFF2-40B4-BE49-F238E27FC236}">
                <a16:creationId xmlns:a16="http://schemas.microsoft.com/office/drawing/2014/main" id="{1411656D-4971-4CC0-9065-8DA32BB8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D87FAD12-8FEF-41B8-B478-8793FF9B485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/>
          <a:lstStyle/>
          <a:p>
            <a:pPr rtl="0"/>
            <a:r>
              <a:rPr lang="hu-HU" dirty="0"/>
              <a:t>1.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pic>
        <p:nvPicPr>
          <p:cNvPr id="7" name="Kép helyőrzője 6" descr="Földgömb ikon">
            <a:extLst>
              <a:ext uri="{FF2B5EF4-FFF2-40B4-BE49-F238E27FC236}">
                <a16:creationId xmlns:a16="http://schemas.microsoft.com/office/drawing/2014/main" id="{610C6214-BE35-4ED8-9EE7-7252A603958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446" r="1446"/>
          <a:stretch>
            <a:fillRect/>
          </a:stretch>
        </p:blipFill>
        <p:spPr/>
      </p:pic>
      <p:sp>
        <p:nvSpPr>
          <p:cNvPr id="8" name="Szöveg helye 7">
            <a:extLst>
              <a:ext uri="{FF2B5EF4-FFF2-40B4-BE49-F238E27FC236}">
                <a16:creationId xmlns:a16="http://schemas.microsoft.com/office/drawing/2014/main" id="{C8E5EEAD-1427-4576-B8F8-C485CAE758A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endParaRPr lang="hu-HU" dirty="0"/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C214C1BB-D845-4DB6-B4FC-B7AD5F5E0C3D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 rtlCol="0"/>
          <a:lstStyle/>
          <a:p>
            <a:pPr rtl="0"/>
            <a:r>
              <a:rPr lang="hu-HU" dirty="0"/>
              <a:t>2.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pic>
        <p:nvPicPr>
          <p:cNvPr id="12" name="Kép helyőrzője 11" descr="Kockák ikon">
            <a:extLst>
              <a:ext uri="{FF2B5EF4-FFF2-40B4-BE49-F238E27FC236}">
                <a16:creationId xmlns:a16="http://schemas.microsoft.com/office/drawing/2014/main" id="{92015B7B-96EB-42A1-A654-5DE5377A52C7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446" r="1446"/>
          <a:stretch>
            <a:fillRect/>
          </a:stretch>
        </p:blipFill>
        <p:spPr/>
      </p:pic>
      <p:sp>
        <p:nvSpPr>
          <p:cNvPr id="14" name="Szöveg helye 13">
            <a:extLst>
              <a:ext uri="{FF2B5EF4-FFF2-40B4-BE49-F238E27FC236}">
                <a16:creationId xmlns:a16="http://schemas.microsoft.com/office/drawing/2014/main" id="{B9B92F0C-3A1D-438E-B581-C1A63389DAF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endParaRPr lang="hu-HU" dirty="0"/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B457CA9C-196E-494C-85C7-9B4861053912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 rtlCol="0"/>
          <a:lstStyle/>
          <a:p>
            <a:pPr rtl="0"/>
            <a:r>
              <a:rPr lang="hu-HU" dirty="0"/>
              <a:t>3.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pic>
        <p:nvPicPr>
          <p:cNvPr id="18" name="Kép helyőrzője 17" descr="Processzor ikon">
            <a:extLst>
              <a:ext uri="{FF2B5EF4-FFF2-40B4-BE49-F238E27FC236}">
                <a16:creationId xmlns:a16="http://schemas.microsoft.com/office/drawing/2014/main" id="{2714DCC9-F1D9-4D7B-9452-B6DF9693F66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29" r="1329"/>
          <a:stretch>
            <a:fillRect/>
          </a:stretch>
        </p:blipFill>
        <p:spPr/>
      </p:pic>
      <p:sp>
        <p:nvSpPr>
          <p:cNvPr id="11" name="Szöveg helye 10">
            <a:extLst>
              <a:ext uri="{FF2B5EF4-FFF2-40B4-BE49-F238E27FC236}">
                <a16:creationId xmlns:a16="http://schemas.microsoft.com/office/drawing/2014/main" id="{CE2783CF-764B-4358-9D88-FAC1CFEBE203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endParaRPr lang="hu-HU" dirty="0"/>
          </a:p>
        </p:txBody>
      </p:sp>
      <p:sp>
        <p:nvSpPr>
          <p:cNvPr id="19" name="Szöveg helye 18">
            <a:extLst>
              <a:ext uri="{FF2B5EF4-FFF2-40B4-BE49-F238E27FC236}">
                <a16:creationId xmlns:a16="http://schemas.microsoft.com/office/drawing/2014/main" id="{0D9ADD0F-E05E-4B0E-9D9D-545FD755D7AE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 rtlCol="0"/>
          <a:lstStyle/>
          <a:p>
            <a:pPr rtl="0"/>
            <a:r>
              <a:rPr lang="hu-HU" dirty="0"/>
              <a:t>4.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pic>
        <p:nvPicPr>
          <p:cNvPr id="21" name="Kép helyőrzője 20" descr="Atom ikon">
            <a:extLst>
              <a:ext uri="{FF2B5EF4-FFF2-40B4-BE49-F238E27FC236}">
                <a16:creationId xmlns:a16="http://schemas.microsoft.com/office/drawing/2014/main" id="{E6E2A99D-9A76-4170-84C5-E8E895DEA55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329" r="1329"/>
          <a:stretch>
            <a:fillRect/>
          </a:stretch>
        </p:blipFill>
        <p:spPr/>
      </p:pic>
      <p:sp>
        <p:nvSpPr>
          <p:cNvPr id="17" name="Szöveg helye 16">
            <a:extLst>
              <a:ext uri="{FF2B5EF4-FFF2-40B4-BE49-F238E27FC236}">
                <a16:creationId xmlns:a16="http://schemas.microsoft.com/office/drawing/2014/main" id="{46EA4E1F-EF09-44AB-9483-363CF418AA99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3581DBA-A3EE-4E75-90A6-DC25DF9D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5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A109C3A-84E8-4719-8AE7-A66B8CA9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8B2EEAA2-E066-4E86-A51B-FAC33331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400607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helyőrzője 10" descr="Céges embléma">
            <a:extLst>
              <a:ext uri="{FF2B5EF4-FFF2-40B4-BE49-F238E27FC236}">
                <a16:creationId xmlns:a16="http://schemas.microsoft.com/office/drawing/2014/main" id="{F137CA39-CE16-4C0C-AFB5-324FE940E6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34CB059-9E3B-4C24-8E61-717292C2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TERMÉK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66139D5-668D-4A3D-B6B6-F71EC385C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  <a:p>
            <a:pPr rtl="0"/>
            <a:endParaRPr lang="hu-HU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EEA947F5-DD66-4D26-BA34-D1D8F7CE901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pic>
        <p:nvPicPr>
          <p:cNvPr id="13" name="Kép helyőrzője 12" descr="Absztrakt háttér">
            <a:extLst>
              <a:ext uri="{FF2B5EF4-FFF2-40B4-BE49-F238E27FC236}">
                <a16:creationId xmlns:a16="http://schemas.microsoft.com/office/drawing/2014/main" id="{0B7AE772-6658-4E84-8EAA-F33DEF1CDE4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9E0CB5-2F64-4439-AFE9-1BB3ACE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6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FF8DFC-D37E-4FE9-81F0-77C68D46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A396AE-BE46-43FB-B4E7-224D2AF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766803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helyőrzője 8" descr="Céges embléma">
            <a:extLst>
              <a:ext uri="{FF2B5EF4-FFF2-40B4-BE49-F238E27FC236}">
                <a16:creationId xmlns:a16="http://schemas.microsoft.com/office/drawing/2014/main" id="{00A900CE-F052-47BC-8B74-B92A4604BF6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A6E18C9-A34F-49C5-973E-6760D1EF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ELVÁLASZTÓ</a:t>
            </a:r>
          </a:p>
        </p:txBody>
      </p:sp>
      <p:pic>
        <p:nvPicPr>
          <p:cNvPr id="22" name="Kép helyőrzője 21" descr="Absztrakt háttér">
            <a:extLst>
              <a:ext uri="{FF2B5EF4-FFF2-40B4-BE49-F238E27FC236}">
                <a16:creationId xmlns:a16="http://schemas.microsoft.com/office/drawing/2014/main" id="{0342E5A4-E598-4185-B93F-5814F00C20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zöveg helye 2">
            <a:extLst>
              <a:ext uri="{FF2B5EF4-FFF2-40B4-BE49-F238E27FC236}">
                <a16:creationId xmlns:a16="http://schemas.microsoft.com/office/drawing/2014/main" id="{C679F2E6-BA14-4C8A-ABD2-DF5060934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35D9EA8-AA17-47B2-A4C4-B60DC7C7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7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ED7D25D-51F0-4AAA-86C5-F3584C0E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8CF653-A1E7-473E-A717-8659C5E4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408031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Kép helyőrzője 16" descr="Céges embléma">
            <a:extLst>
              <a:ext uri="{FF2B5EF4-FFF2-40B4-BE49-F238E27FC236}">
                <a16:creationId xmlns:a16="http://schemas.microsoft.com/office/drawing/2014/main" id="{D652F905-B33B-4D47-80C8-0F74935D9B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9FFA9230-37E2-4CEB-A3E5-B704CE273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ÜZLETI MODELL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04CE41FD-E209-4A5A-A2E8-544E35CFA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89BE0DA3-3A03-418B-B7CF-0D4107499B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hu-HU" dirty="0"/>
              <a:t>1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4E74A44B-1AAF-44D0-A426-104890F03E29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/>
          <a:lstStyle/>
          <a:p>
            <a:pPr rtl="0"/>
            <a:r>
              <a:rPr lang="hu-HU" dirty="0"/>
              <a:t>1. szakasz címe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D5450AF9-6A8E-4054-A832-F7BF5DA0E16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CC46A248-3DD2-4083-A410-269D3C38BC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hu-HU" dirty="0"/>
              <a:t>2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C2591E4E-87B2-4D64-B582-FBD4968920C5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2. szakasz címe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D02433E8-0DB5-41D8-8B35-D76C17922FE5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A0DE6855-935C-4D9C-A6CA-A30ED4BC73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hu-HU" dirty="0"/>
              <a:t>3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A9BECA94-5E25-4E6D-A58C-7792A89CED7C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3. szakasz címe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1A32FF73-A652-43C6-96BD-425851F591BC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0CD95F8-281D-4A11-99F2-9795C526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8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EF07EF2-7D34-4156-A053-F39C5736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AC3AE2A4-3957-4B28-BF08-92D47AFB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31017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helyőrzője 14" descr="Céges embléma">
            <a:extLst>
              <a:ext uri="{FF2B5EF4-FFF2-40B4-BE49-F238E27FC236}">
                <a16:creationId xmlns:a16="http://schemas.microsoft.com/office/drawing/2014/main" id="{D109D7E8-1657-415E-9652-1926119422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9E676396-C21D-4B70-9D79-1F2D37C2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PIACI LEHETŐSÉG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576CF779-081B-4E72-A319-7C38F36AC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/>
              <a:t>LOREM IPSUM DOLOR SIT AMET, CONSECTETUER ADIPISCING ELIT. MAECENAS PORTTITOR CONGUE MASSA. FUSCE POSUERE, MAGNA SED PULVINAR ULTRICIES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2B53FD6B-8708-4F80-AB59-4CDC512BB4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83723" y="3301941"/>
            <a:ext cx="3438081" cy="978408"/>
          </a:xfrm>
        </p:spPr>
        <p:txBody>
          <a:bodyPr rtlCol="0"/>
          <a:lstStyle/>
          <a:p>
            <a:pPr rtl="0"/>
            <a:r>
              <a:rPr lang="hu-HU" sz="6000" dirty="0"/>
              <a:t>12 345 Ft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FE943C05-E8A8-4207-AB61-8217865756BB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1.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3BD6AF2B-2B9F-4A90-84C1-72B44208817D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</a:t>
            </a:r>
          </a:p>
          <a:p>
            <a:pPr rtl="0"/>
            <a:endParaRPr lang="hu-HU" dirty="0"/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09465A6-8E64-4808-BB8C-231EDE48919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83723" y="4594663"/>
            <a:ext cx="3438081" cy="978408"/>
          </a:xfrm>
        </p:spPr>
        <p:txBody>
          <a:bodyPr rtlCol="0"/>
          <a:lstStyle/>
          <a:p>
            <a:pPr rtl="0"/>
            <a:r>
              <a:rPr lang="hu-HU" sz="6000" dirty="0"/>
              <a:t>6 789 Ft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30B38FE9-8092-4507-832E-F26E6C7B971B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2.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3D9668B5-C557-4960-A190-E6D7AB94F51D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259A383-0866-4407-8C26-55CD13DC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9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63E0F1-B897-4223-A3A2-2C081255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63F6BAA2-E4F1-4057-8037-B984D995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1953431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helyőrzője 18" descr="Céges embléma">
            <a:extLst>
              <a:ext uri="{FF2B5EF4-FFF2-40B4-BE49-F238E27FC236}">
                <a16:creationId xmlns:a16="http://schemas.microsoft.com/office/drawing/2014/main" id="{DD69023F-CCBF-4CBE-A068-92CD818A532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71" r="171"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E0FF0FC-A1A4-4520-9C7C-04BD49F8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PIAC</a:t>
            </a:r>
            <a:br>
              <a:rPr lang="hu-HU" dirty="0"/>
            </a:br>
            <a:r>
              <a:rPr lang="hu-HU" dirty="0"/>
              <a:t>LEHETŐSÉG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8BF566D-7DFE-4CDA-BB58-BBDDD9530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E8BB8737-6A2D-4222-BE20-4DDD0181AC66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942324" y="1185842"/>
            <a:ext cx="1519848" cy="250619"/>
          </a:xfrm>
        </p:spPr>
        <p:txBody>
          <a:bodyPr rtlCol="0"/>
          <a:lstStyle/>
          <a:p>
            <a:pPr rtl="0"/>
            <a:r>
              <a:rPr lang="hu-HU" dirty="0"/>
              <a:t>MILLIÁRD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5E9BDBFC-200B-4A3D-BB1D-543A9FC88E9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hu-HU" sz="5200" dirty="0"/>
              <a:t>25 Ft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EC70FB9E-DFF7-4E1D-A198-C9B698542CCD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1.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5B8B8BFB-8E95-4C40-9D61-7270E95BEABA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6194160" y="1537655"/>
            <a:ext cx="1519848" cy="250619"/>
          </a:xfrm>
        </p:spPr>
        <p:txBody>
          <a:bodyPr rtlCol="0"/>
          <a:lstStyle/>
          <a:p>
            <a:pPr rtl="0"/>
            <a:r>
              <a:rPr lang="hu-HU" dirty="0"/>
              <a:t>MILLIÁRD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548C04BB-E114-40C7-9F39-61419E2CA17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hu-HU" sz="5200" dirty="0"/>
              <a:t>50 Ft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BD155BA7-00C9-475D-B9E5-CE1970F653BB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2.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45A17AFB-1B86-41C2-BFD8-CF2FD1C8D7AC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9166874" y="1818886"/>
            <a:ext cx="1519848" cy="250619"/>
          </a:xfrm>
        </p:spPr>
        <p:txBody>
          <a:bodyPr rtlCol="0"/>
          <a:lstStyle/>
          <a:p>
            <a:pPr rtl="0"/>
            <a:r>
              <a:rPr lang="hu-HU" dirty="0"/>
              <a:t>MILLIÁRD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D27A80BA-ED11-4DB1-A332-B2453F72079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75532" y="2049128"/>
            <a:ext cx="2141624" cy="978408"/>
          </a:xfrm>
        </p:spPr>
        <p:txBody>
          <a:bodyPr rtlCol="0"/>
          <a:lstStyle/>
          <a:p>
            <a:pPr rtl="0"/>
            <a:r>
              <a:rPr lang="hu-HU" sz="5200" dirty="0"/>
              <a:t>100 Ft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F0FAB1D6-8588-427D-8AEA-CCD92CBBBBF9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 rtlCol="0"/>
          <a:lstStyle/>
          <a:p>
            <a:pPr rtl="0"/>
            <a:r>
              <a:rPr lang="hu-HU" dirty="0"/>
              <a:t>3. szakasz</a:t>
            </a:r>
            <a:br>
              <a:rPr lang="hu-HU" dirty="0"/>
            </a:br>
            <a:r>
              <a:rPr lang="hu-HU" dirty="0"/>
              <a:t>Cím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5927B2D4-FF66-4F53-9CB5-9DB268DE0B8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4E42B5-9DB2-4F76-8565-788CC77B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10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30D5A9-F67D-4AB4-A7F9-1F9950C7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2F5544-AE99-49B4-B21E-2F2EF642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105947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helyőrzője 12" descr="Céges embléma">
            <a:extLst>
              <a:ext uri="{FF2B5EF4-FFF2-40B4-BE49-F238E27FC236}">
                <a16:creationId xmlns:a16="http://schemas.microsoft.com/office/drawing/2014/main" id="{1A654F13-CD3F-4BDD-83D3-F9485654A48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CAA634A5-7FE6-42E8-939A-FEBD8260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VERSENYTÁRSAK DIA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F7F2EF20-4914-4F8B-9D4E-F7DF9977D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/>
              <a:t>LOREM IPSUM DOLOR SIT AMET, CONSECTETUER ADIPISCING ELIT. MAECENAS PORTTITOR CONGUE MASSA. FUSCE POSUERE, MAGNA SED PULVINAR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8E71FA33-E828-4801-B104-D9EE37E432DE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1. szakasz címe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99DFBDB4-30C1-4168-A5E2-42A184496F62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marL="0" indent="0" rtl="0">
              <a:buNone/>
            </a:pPr>
            <a:endParaRPr lang="hu-HU" dirty="0"/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FCE7D97E-00B7-4F79-BFF8-2D7EDFAE5F02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 rtlCol="0"/>
          <a:lstStyle/>
          <a:p>
            <a:pPr rtl="0"/>
            <a:r>
              <a:rPr lang="hu-HU" dirty="0"/>
              <a:t>2. szakasz címe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80D2D95B-77BF-49F5-AFBD-07FDD7C43B82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</a:t>
            </a:r>
            <a:br>
              <a:rPr lang="hu-HU" dirty="0"/>
            </a:b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marL="0" indent="0" rtl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70F84A1-DCA9-4894-82EA-A83237AC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11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75E9DB8-C5FF-491C-87D4-2A6ED291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FC52B98C-5C1E-46B1-B54D-F830C622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26509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EE5466E9-AFFB-436C-9D79-5B54F409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05" y="707529"/>
            <a:ext cx="4252278" cy="569086"/>
          </a:xfrm>
        </p:spPr>
        <p:txBody>
          <a:bodyPr rtlCol="0">
            <a:noAutofit/>
          </a:bodyPr>
          <a:lstStyle/>
          <a:p>
            <a:pPr rtl="0"/>
            <a:r>
              <a:rPr lang="hu-HU" dirty="0"/>
              <a:t>VERSENYTÁRSAK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C86011A2-BC96-44FB-8A92-659975A8FA5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/>
          <a:p>
            <a:pPr rtl="0"/>
            <a:r>
              <a:rPr lang="hu-HU" dirty="0"/>
              <a:t>Kényelmesebb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74B9E7B-91A3-4653-9D11-EAC841812E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/>
          <a:p>
            <a:pPr rtl="0"/>
            <a:r>
              <a:rPr lang="hu-HU" dirty="0"/>
              <a:t>Kevésbé kényelmes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68652C60-0E06-4F27-8EBF-99ED4922DB1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/>
          <a:p>
            <a:pPr rtl="0"/>
            <a:r>
              <a:rPr lang="hu-HU" dirty="0"/>
              <a:t>Drágább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6714EE8D-6591-4E64-A28D-275EB74081C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/>
          <a:p>
            <a:pPr rtl="0"/>
            <a:r>
              <a:rPr lang="hu-HU" dirty="0"/>
              <a:t>Kevésbé drága</a:t>
            </a:r>
          </a:p>
        </p:txBody>
      </p:sp>
      <p:sp>
        <p:nvSpPr>
          <p:cNvPr id="7" name="Kép helyőrzője 6" descr="Céges embléma">
            <a:extLst>
              <a:ext uri="{FF2B5EF4-FFF2-40B4-BE49-F238E27FC236}">
                <a16:creationId xmlns:a16="http://schemas.microsoft.com/office/drawing/2014/main" id="{956D8A29-D3FE-4914-9B35-D6262F24BE1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6" name="Kép helyőrzője 5" descr="Céges embléma">
            <a:extLst>
              <a:ext uri="{FF2B5EF4-FFF2-40B4-BE49-F238E27FC236}">
                <a16:creationId xmlns:a16="http://schemas.microsoft.com/office/drawing/2014/main" id="{7A0E87DB-04F5-4877-B62F-1AA19455033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8" name="Kép helyőrzője 7" descr="Céges embléma">
            <a:extLst>
              <a:ext uri="{FF2B5EF4-FFF2-40B4-BE49-F238E27FC236}">
                <a16:creationId xmlns:a16="http://schemas.microsoft.com/office/drawing/2014/main" id="{C26DAEDC-A364-498F-A14A-8BB14CA3ECB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9" name="Kép helyőrzője 8" descr="Céges embléma">
            <a:extLst>
              <a:ext uri="{FF2B5EF4-FFF2-40B4-BE49-F238E27FC236}">
                <a16:creationId xmlns:a16="http://schemas.microsoft.com/office/drawing/2014/main" id="{4E801804-0B72-4C1B-821A-7B07D1E1A0C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10" name="Kép helyőrzője 9" descr="Céges embléma">
            <a:extLst>
              <a:ext uri="{FF2B5EF4-FFF2-40B4-BE49-F238E27FC236}">
                <a16:creationId xmlns:a16="http://schemas.microsoft.com/office/drawing/2014/main" id="{3ED00665-2DB8-4219-BAE1-AF3300DC811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11" name="Kép helyőrzője 10" descr="Céges embléma">
            <a:extLst>
              <a:ext uri="{FF2B5EF4-FFF2-40B4-BE49-F238E27FC236}">
                <a16:creationId xmlns:a16="http://schemas.microsoft.com/office/drawing/2014/main" id="{4FCD5336-88B4-4116-8C2E-0CA8DB55CD6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</p:sp>
      <p:pic>
        <p:nvPicPr>
          <p:cNvPr id="18" name="Kép helyőrzője 17" descr="Céges embléma">
            <a:extLst>
              <a:ext uri="{FF2B5EF4-FFF2-40B4-BE49-F238E27FC236}">
                <a16:creationId xmlns:a16="http://schemas.microsoft.com/office/drawing/2014/main" id="{E4521B55-33FF-47D9-B2D9-238890D9B6B1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1E2CA95-5F9E-4EDF-9631-539839EA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12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B200280-71A9-4094-B8C4-8BC3C418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C30193BA-1489-40A2-9D5D-0490BDFB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73561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helyőrzője 19" descr="Céges embléma">
            <a:extLst>
              <a:ext uri="{FF2B5EF4-FFF2-40B4-BE49-F238E27FC236}">
                <a16:creationId xmlns:a16="http://schemas.microsoft.com/office/drawing/2014/main" id="{E4C80877-D542-4201-A994-0186BAAB84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FD6457C-A61F-46C0-8266-0BBA6BBC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6" y="1512271"/>
            <a:ext cx="2971055" cy="1286838"/>
          </a:xfrm>
        </p:spPr>
        <p:txBody>
          <a:bodyPr rtlCol="0">
            <a:noAutofit/>
          </a:bodyPr>
          <a:lstStyle/>
          <a:p>
            <a:pPr rtl="0"/>
            <a:r>
              <a:rPr lang="hu-HU" dirty="0"/>
              <a:t>NÖVEKEDÉS</a:t>
            </a:r>
            <a:br>
              <a:rPr lang="hu-HU" dirty="0"/>
            </a:br>
            <a:r>
              <a:rPr lang="hu-HU" dirty="0"/>
              <a:t>STRATÉGIA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0D16957-8228-4166-804F-C65671955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0035A84C-449C-4CF8-B16B-6646515E753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hu-HU" dirty="0"/>
              <a:t>1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D62CB705-FC11-48C5-A459-495475D0B55E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1. szakasz címe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A1B0D2C5-9B7A-45C5-81F4-9E0E8F13E8FB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1. szakasz alcíme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775CF4E1-948D-4002-A94F-4BA8543DF1C4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</a:t>
            </a:r>
          </a:p>
          <a:p>
            <a:pPr rtl="0"/>
            <a:r>
              <a:rPr lang="hu-HU" dirty="0"/>
              <a:t>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endParaRPr lang="hu-HU" dirty="0"/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6B1A0A9B-D4E2-459E-998F-4F014D0CE15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hu-HU" dirty="0"/>
              <a:t>2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C4390C17-C4AE-4DB3-8625-333E382D8160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 rtlCol="0"/>
          <a:lstStyle/>
          <a:p>
            <a:pPr rtl="0"/>
            <a:r>
              <a:rPr lang="hu-HU" dirty="0"/>
              <a:t>2. szakasz címe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727CE960-8379-40F4-AAA5-1C5D97A21A8B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/>
          <a:lstStyle/>
          <a:p>
            <a:pPr rtl="0"/>
            <a:r>
              <a:rPr lang="hu-HU" dirty="0"/>
              <a:t>2. szakasz alcíme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CD77B647-E767-4BF7-9BBB-4670F75C62E5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</a:t>
            </a:r>
          </a:p>
          <a:p>
            <a:pPr rtl="0"/>
            <a:r>
              <a:rPr lang="hu-HU" dirty="0"/>
              <a:t>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endParaRPr lang="hu-HU" dirty="0"/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</a:p>
          <a:p>
            <a:pPr rtl="0"/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endParaRPr lang="hu-HU" dirty="0"/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67777536-862A-4117-99A6-08D618025F3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hu-HU" dirty="0"/>
              <a:t>3</a:t>
            </a:r>
          </a:p>
        </p:txBody>
      </p:sp>
      <p:sp>
        <p:nvSpPr>
          <p:cNvPr id="19" name="Szöveg helye 18">
            <a:extLst>
              <a:ext uri="{FF2B5EF4-FFF2-40B4-BE49-F238E27FC236}">
                <a16:creationId xmlns:a16="http://schemas.microsoft.com/office/drawing/2014/main" id="{12F7FE6A-EF99-4A0F-B41B-9EED6BCFB58F}"/>
              </a:ext>
            </a:extLst>
          </p:cNvPr>
          <p:cNvSpPr>
            <a:spLocks noGrp="1"/>
          </p:cNvSpPr>
          <p:nvPr>
            <p:ph type="body" idx="38"/>
          </p:nvPr>
        </p:nvSpPr>
        <p:spPr/>
        <p:txBody>
          <a:bodyPr rtlCol="0"/>
          <a:lstStyle/>
          <a:p>
            <a:pPr rtl="0"/>
            <a:r>
              <a:rPr lang="hu-HU" dirty="0"/>
              <a:t>3. szakasz címe</a:t>
            </a:r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8437F6BD-1892-43B0-BD66-91036E5CAAF7}"/>
              </a:ext>
            </a:extLst>
          </p:cNvPr>
          <p:cNvSpPr>
            <a:spLocks noGrp="1"/>
          </p:cNvSpPr>
          <p:nvPr>
            <p:ph type="body" idx="37"/>
          </p:nvPr>
        </p:nvSpPr>
        <p:spPr/>
        <p:txBody>
          <a:bodyPr rtlCol="0"/>
          <a:lstStyle/>
          <a:p>
            <a:pPr rtl="0"/>
            <a:r>
              <a:rPr lang="hu-HU" dirty="0"/>
              <a:t>3. szakasz alcíme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ED753487-20C4-4668-BE91-11BEE80F5B0C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975159" y="3147170"/>
            <a:ext cx="2589369" cy="2311934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endParaRPr lang="hu-HU" dirty="0"/>
          </a:p>
          <a:p>
            <a:pPr rtl="0"/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77F7BB-ABDC-47FC-A794-3AB13968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13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668378-7C82-453C-9E4E-4F6D219F1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56623C6-B28B-425F-80E3-E918DFC5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1390205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87237991-F1A6-42D4-A447-8E5D8E3EBA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C27242FD-4B84-40F8-B4E6-626D0577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FEJLŐDÉS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45F63788-D675-4474-98AF-5CA7F8F0538A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Fő mérőszámok</a:t>
            </a:r>
          </a:p>
        </p:txBody>
      </p:sp>
      <p:graphicFrame>
        <p:nvGraphicFramePr>
          <p:cNvPr id="11" name="Tartalom helye 10">
            <a:extLst>
              <a:ext uri="{FF2B5EF4-FFF2-40B4-BE49-F238E27FC236}">
                <a16:creationId xmlns:a16="http://schemas.microsoft.com/office/drawing/2014/main" id="{8047F0F1-B9F9-4B27-9B70-023763377B5C}"/>
              </a:ext>
            </a:extLst>
          </p:cNvPr>
          <p:cNvGraphicFramePr>
            <a:graphicFrameLocks noGrp="1"/>
          </p:cNvGraphicFramePr>
          <p:nvPr>
            <p:ph sz="quarter" idx="32"/>
            <p:extLst>
              <p:ext uri="{D42A27DB-BD31-4B8C-83A1-F6EECF244321}">
                <p14:modId xmlns:p14="http://schemas.microsoft.com/office/powerpoint/2010/main" val="3465191819"/>
              </p:ext>
            </p:extLst>
          </p:nvPr>
        </p:nvGraphicFramePr>
        <p:xfrm>
          <a:off x="803275" y="2524124"/>
          <a:ext cx="5328000" cy="2417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79497031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90042965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66781992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6216251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814727653"/>
                    </a:ext>
                  </a:extLst>
                </a:gridCol>
              </a:tblGrid>
              <a:tr h="482613">
                <a:tc>
                  <a:txBody>
                    <a:bodyPr/>
                    <a:lstStyle/>
                    <a:p>
                      <a:pPr algn="ctr" rtl="0"/>
                      <a:endParaRPr lang="hu-HU" sz="1900" noProof="0" dirty="0"/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+mn-lt"/>
                          <a:ea typeface="+mn-ea"/>
                          <a:cs typeface="+mn-cs"/>
                        </a:rPr>
                        <a:t>ÜGYFELEK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+mn-lt"/>
                          <a:ea typeface="+mn-ea"/>
                          <a:cs typeface="+mn-cs"/>
                        </a:rPr>
                        <a:t>RENDELÉ-SEK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+mn-lt"/>
                          <a:ea typeface="+mn-ea"/>
                          <a:cs typeface="+mn-cs"/>
                        </a:rPr>
                        <a:t>BRUTTÓ BEVÉTEL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+mn-lt"/>
                          <a:ea typeface="+mn-ea"/>
                          <a:cs typeface="+mn-cs"/>
                        </a:rPr>
                        <a:t>NETTÓ BEVÉTEL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524205"/>
                  </a:ext>
                </a:extLst>
              </a:tr>
              <a:tr h="387030"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noProof="0" dirty="0">
                          <a:solidFill>
                            <a:srgbClr val="0F1722"/>
                          </a:solidFill>
                          <a:latin typeface="+mn-lt"/>
                        </a:rPr>
                        <a:t>20XX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1 100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10 000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7 000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024462"/>
                  </a:ext>
                </a:extLst>
              </a:tr>
              <a:tr h="387030"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noProof="0" dirty="0">
                          <a:solidFill>
                            <a:srgbClr val="0F1722"/>
                          </a:solidFill>
                          <a:latin typeface="+mn-lt"/>
                        </a:rPr>
                        <a:t>20XX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20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200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20 000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16 000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004288"/>
                  </a:ext>
                </a:extLst>
              </a:tr>
              <a:tr h="387030"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noProof="0" dirty="0">
                          <a:solidFill>
                            <a:srgbClr val="0F1722"/>
                          </a:solidFill>
                          <a:latin typeface="+mn-lt"/>
                        </a:rPr>
                        <a:t>20XX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30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300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30 000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25 000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56611"/>
                  </a:ext>
                </a:extLst>
              </a:tr>
              <a:tr h="387030"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noProof="0" dirty="0">
                          <a:solidFill>
                            <a:srgbClr val="0F1722"/>
                          </a:solidFill>
                          <a:latin typeface="+mn-lt"/>
                        </a:rPr>
                        <a:t>20XX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40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400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40 000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30 000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8958"/>
                  </a:ext>
                </a:extLst>
              </a:tr>
              <a:tr h="387030">
                <a:tc>
                  <a:txBody>
                    <a:bodyPr/>
                    <a:lstStyle/>
                    <a:p>
                      <a:pPr algn="ctr" rtl="0"/>
                      <a:r>
                        <a:rPr lang="hu-HU" sz="1200" b="1" noProof="0" dirty="0">
                          <a:solidFill>
                            <a:srgbClr val="0F1722"/>
                          </a:solidFill>
                          <a:latin typeface="+mn-lt"/>
                        </a:rPr>
                        <a:t>20XX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50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500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50 000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i="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</a:rPr>
                        <a:t>40 000 Ft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016789"/>
                  </a:ext>
                </a:extLst>
              </a:tr>
            </a:tbl>
          </a:graphicData>
        </a:graphic>
      </p:graphicFrame>
      <p:sp>
        <p:nvSpPr>
          <p:cNvPr id="8" name="Szöveg helye 7">
            <a:extLst>
              <a:ext uri="{FF2B5EF4-FFF2-40B4-BE49-F238E27FC236}">
                <a16:creationId xmlns:a16="http://schemas.microsoft.com/office/drawing/2014/main" id="{B44E1CC1-FC76-4F7F-B7FD-5BF8B23A0369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571988" y="2031832"/>
            <a:ext cx="2915732" cy="360000"/>
          </a:xfrm>
        </p:spPr>
        <p:txBody>
          <a:bodyPr rtlCol="0"/>
          <a:lstStyle/>
          <a:p>
            <a:pPr rtl="0"/>
            <a:r>
              <a:rPr lang="hu-HU" dirty="0"/>
              <a:t>Bevétel évenként</a:t>
            </a:r>
          </a:p>
        </p:txBody>
      </p:sp>
      <p:graphicFrame>
        <p:nvGraphicFramePr>
          <p:cNvPr id="14" name="Tartalom helye 13" descr="Diagram">
            <a:extLst>
              <a:ext uri="{FF2B5EF4-FFF2-40B4-BE49-F238E27FC236}">
                <a16:creationId xmlns:a16="http://schemas.microsoft.com/office/drawing/2014/main" id="{F478D7A4-9109-4CDD-B86C-F0EA88F242AB}"/>
              </a:ext>
            </a:extLst>
          </p:cNvPr>
          <p:cNvGraphicFramePr>
            <a:graphicFrameLocks noGrp="1"/>
          </p:cNvGraphicFramePr>
          <p:nvPr>
            <p:ph sz="quarter" idx="33"/>
            <p:extLst>
              <p:ext uri="{D42A27DB-BD31-4B8C-83A1-F6EECF244321}">
                <p14:modId xmlns:p14="http://schemas.microsoft.com/office/powerpoint/2010/main" val="2545738457"/>
              </p:ext>
            </p:extLst>
          </p:nvPr>
        </p:nvGraphicFramePr>
        <p:xfrm>
          <a:off x="6521884" y="2448969"/>
          <a:ext cx="4970463" cy="2935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B1FE36B-32AA-4E32-8EB1-0BF1B74B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14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72129B4-659A-4DED-BA78-4B6F73EA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9F2F21CE-F509-4792-953E-A7E82159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4257882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helyőrzője 7" descr="Céges embléma">
            <a:extLst>
              <a:ext uri="{FF2B5EF4-FFF2-40B4-BE49-F238E27FC236}">
                <a16:creationId xmlns:a16="http://schemas.microsoft.com/office/drawing/2014/main" id="{D49DB483-FBC2-4DC4-983B-5A64A32A68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32" name="Szöveg helye 31">
            <a:extLst>
              <a:ext uri="{FF2B5EF4-FFF2-40B4-BE49-F238E27FC236}">
                <a16:creationId xmlns:a16="http://schemas.microsoft.com/office/drawing/2014/main" id="{AC56A32D-C8BF-4477-BA62-2022E57EF22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hu-HU" dirty="0"/>
              <a:t>20XX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85197C78-259E-4657-A444-966F58562A59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1. pont címe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D773AD42-4E4E-45A2-AF46-3450008935A5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endParaRPr lang="hu-HU" dirty="0"/>
          </a:p>
        </p:txBody>
      </p:sp>
      <p:sp>
        <p:nvSpPr>
          <p:cNvPr id="33" name="Szöveg helye 32">
            <a:extLst>
              <a:ext uri="{FF2B5EF4-FFF2-40B4-BE49-F238E27FC236}">
                <a16:creationId xmlns:a16="http://schemas.microsoft.com/office/drawing/2014/main" id="{F07C18CC-1A8F-4E9F-9484-DF4AB33E559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 rtlCol="0"/>
          <a:lstStyle/>
          <a:p>
            <a:pPr rtl="0"/>
            <a:r>
              <a:rPr lang="hu-HU" dirty="0"/>
              <a:t>20XX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A26FF1D7-38F0-4FAF-8052-B8AEE66978E8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2. pont címe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DA461661-5A36-4E79-80B5-116D2AAFA27C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endParaRPr lang="hu-HU" dirty="0"/>
          </a:p>
        </p:txBody>
      </p:sp>
      <p:sp>
        <p:nvSpPr>
          <p:cNvPr id="34" name="Szöveg helye 33">
            <a:extLst>
              <a:ext uri="{FF2B5EF4-FFF2-40B4-BE49-F238E27FC236}">
                <a16:creationId xmlns:a16="http://schemas.microsoft.com/office/drawing/2014/main" id="{743B3E0E-6E1F-4AD2-A122-C5828866A33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 rtlCol="0"/>
          <a:lstStyle/>
          <a:p>
            <a:pPr rtl="0"/>
            <a:r>
              <a:rPr lang="hu-HU" dirty="0"/>
              <a:t>20XX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4957D0D1-5961-4504-9B04-2E7192A7384F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/>
          <a:lstStyle/>
          <a:p>
            <a:pPr rtl="0"/>
            <a:r>
              <a:rPr lang="hu-HU" dirty="0"/>
              <a:t>3. pont címe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0C4CB2D7-C18E-4293-9F27-83794A03541C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endParaRPr lang="hu-HU" dirty="0"/>
          </a:p>
        </p:txBody>
      </p:sp>
      <p:sp>
        <p:nvSpPr>
          <p:cNvPr id="35" name="Szöveg helye 34">
            <a:extLst>
              <a:ext uri="{FF2B5EF4-FFF2-40B4-BE49-F238E27FC236}">
                <a16:creationId xmlns:a16="http://schemas.microsoft.com/office/drawing/2014/main" id="{C4D92659-35B8-4DF0-B3F1-B256D0D6A34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 rtlCol="0"/>
          <a:lstStyle/>
          <a:p>
            <a:pPr rtl="0"/>
            <a:r>
              <a:rPr lang="hu-HU" dirty="0"/>
              <a:t>20XX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6B2559C2-1BA3-4140-AE36-D940D09218E5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 rtlCol="0"/>
          <a:lstStyle/>
          <a:p>
            <a:pPr rtl="0"/>
            <a:r>
              <a:rPr lang="hu-HU" dirty="0"/>
              <a:t>4. pont címe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F8F4F51F-1AB9-4B4F-91F2-124F7319BC89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endParaRPr lang="hu-HU" dirty="0"/>
          </a:p>
        </p:txBody>
      </p:sp>
      <p:sp>
        <p:nvSpPr>
          <p:cNvPr id="5" name="Cím 4">
            <a:extLst>
              <a:ext uri="{FF2B5EF4-FFF2-40B4-BE49-F238E27FC236}">
                <a16:creationId xmlns:a16="http://schemas.microsoft.com/office/drawing/2014/main" id="{CBA8DB52-EFD1-490F-9D30-DA1BE125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ÜTEMTERV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9404D123-3B64-40AC-8E19-13ACA846E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  <a:p>
            <a:pPr rtl="0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FA37053-6323-4E13-BED7-2CAB467A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15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5D4A3CE-7423-4FF3-8738-B7BF3FF8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2673D475-C5F4-4E45-B91A-0747964B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13774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E3101BB9-5083-43DD-84CB-1F61DAB74E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DB65365-4521-4F81-B6BD-11364F3F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PÉNZÜGYEK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5D5E241-5BDF-4E31-AEE3-F95545B01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</p:txBody>
      </p:sp>
      <p:graphicFrame>
        <p:nvGraphicFramePr>
          <p:cNvPr id="9" name="Táblázat helye 8">
            <a:extLst>
              <a:ext uri="{FF2B5EF4-FFF2-40B4-BE49-F238E27FC236}">
                <a16:creationId xmlns:a16="http://schemas.microsoft.com/office/drawing/2014/main" id="{310E0F95-76C3-48B4-BEFB-5B1DB71B97E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373042244"/>
              </p:ext>
            </p:extLst>
          </p:nvPr>
        </p:nvGraphicFramePr>
        <p:xfrm>
          <a:off x="4430062" y="859665"/>
          <a:ext cx="6510345" cy="466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00">
                  <a:extLst>
                    <a:ext uri="{9D8B030D-6E8A-4147-A177-3AD203B41FA5}">
                      <a16:colId xmlns:a16="http://schemas.microsoft.com/office/drawing/2014/main" val="164802800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1653645961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714343349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338044344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9414629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hu-HU" sz="1200" b="1" i="1" kern="1200" noProof="0" dirty="0">
                        <a:solidFill>
                          <a:schemeClr val="l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200" b="1" kern="1200" noProof="0" dirty="0">
                        <a:solidFill>
                          <a:srgbClr val="0F172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249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Felhasználók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1 600 000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82526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Feladatok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16 000 000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6125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Átlagár feladatonként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3807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CÉG BEVÉTELE @15%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5 625 000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216 000 000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97746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– Értékesítés költsége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0653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Bruttó eredmény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5 625 000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48 000 000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216 000 000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098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MŰKÖDÉSI KÖLTSÉG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bg2">
                            <a:lumMod val="9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609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– Értékesítés és marketing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5 062 500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38 400 000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151 200 000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74972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– Ügyfélszolgálat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1 687 500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9 600 000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21 600 000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92902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– Termékfejlesztés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562 500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2 400 000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10 800 000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4031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– Egyéb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281 250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2 400 000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4 320 000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3938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rgbClr val="0F1722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MŰKÖDÉSI KÖLTSÉG ÖSSZESEN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7 596 750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52 800 000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bg2">
                              <a:lumMod val="9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187 920 000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243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hu-HU" sz="1400" i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8534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u-HU" sz="1200" b="1" kern="120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ÜZEMI EREDMÉNY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b="1" i="1" kern="1200" noProof="0" dirty="0">
                          <a:solidFill>
                            <a:srgbClr val="B53164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-1 968 750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b="1" i="1" kern="1200" noProof="0" dirty="0">
                          <a:solidFill>
                            <a:srgbClr val="B53164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-4 800 000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hu-HU" sz="1400" b="1" i="1" kern="1200" noProof="0" dirty="0">
                          <a:solidFill>
                            <a:srgbClr val="34815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28 080 000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40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882539"/>
                  </a:ext>
                </a:extLst>
              </a:tr>
            </a:tbl>
          </a:graphicData>
        </a:graphic>
      </p:graphicFrame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845F57-2399-46AA-85F3-D790CEA7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16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ECDF3C5-F687-4A1D-AFCF-1BADF8B9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EA012A-C1D5-4E0A-AEFE-277577B10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50709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helyőrzője 20" descr="Céges embléma">
            <a:extLst>
              <a:ext uri="{FF2B5EF4-FFF2-40B4-BE49-F238E27FC236}">
                <a16:creationId xmlns:a16="http://schemas.microsoft.com/office/drawing/2014/main" id="{68D7BA2C-9B0D-466A-9EB6-14071AD0EA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9493042-5AE0-45BE-ADF7-928C67A0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hu-HU" dirty="0"/>
              <a:t>A MI</a:t>
            </a:r>
            <a:br>
              <a:rPr lang="hu-HU" dirty="0"/>
            </a:br>
            <a:r>
              <a:rPr lang="hu-HU" dirty="0"/>
              <a:t>CSAPATUNK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23D066-07CC-49FB-90CA-1E6E642FD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</a:t>
            </a:r>
            <a:br>
              <a:rPr lang="hu-HU" dirty="0"/>
            </a:br>
            <a:r>
              <a:rPr lang="hu-HU" dirty="0"/>
              <a:t>DOLOR SIT AMET, CONSECTETUER ADIPISCING ELIT. MAECENAS PORTTITOR</a:t>
            </a:r>
          </a:p>
        </p:txBody>
      </p:sp>
      <p:pic>
        <p:nvPicPr>
          <p:cNvPr id="23" name="Kép helyőrzője 22" descr="Csapattag fényképe">
            <a:extLst>
              <a:ext uri="{FF2B5EF4-FFF2-40B4-BE49-F238E27FC236}">
                <a16:creationId xmlns:a16="http://schemas.microsoft.com/office/drawing/2014/main" id="{BCDA0AB9-D2F0-43F7-8A11-F5E9906191F8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Szöveg helye 9">
            <a:extLst>
              <a:ext uri="{FF2B5EF4-FFF2-40B4-BE49-F238E27FC236}">
                <a16:creationId xmlns:a16="http://schemas.microsoft.com/office/drawing/2014/main" id="{78F98AF3-5CC0-4C1C-95C8-7080E8F227A0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 rtlCol="0"/>
          <a:lstStyle/>
          <a:p>
            <a:pPr rtl="0"/>
            <a:r>
              <a:rPr lang="hu-HU" dirty="0"/>
              <a:t>Kocsis</a:t>
            </a:r>
            <a:br>
              <a:rPr lang="hu-HU" dirty="0"/>
            </a:br>
            <a:r>
              <a:rPr lang="hu-HU" dirty="0"/>
              <a:t>Diana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925DB19C-E7A8-45AA-8650-827149D84F25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86211C21-F618-450D-80B7-ADC8416BF85A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endParaRPr lang="hu-HU" dirty="0"/>
          </a:p>
        </p:txBody>
      </p:sp>
      <p:pic>
        <p:nvPicPr>
          <p:cNvPr id="25" name="Kép helyőrzője 24" descr="Csapattag fényképe">
            <a:extLst>
              <a:ext uri="{FF2B5EF4-FFF2-40B4-BE49-F238E27FC236}">
                <a16:creationId xmlns:a16="http://schemas.microsoft.com/office/drawing/2014/main" id="{266E5B63-726C-4BAE-818C-574FCAA7C4B9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Szöveg helye 18">
            <a:extLst>
              <a:ext uri="{FF2B5EF4-FFF2-40B4-BE49-F238E27FC236}">
                <a16:creationId xmlns:a16="http://schemas.microsoft.com/office/drawing/2014/main" id="{0D997D53-CF01-4DFB-BF60-A1C0E441E3ED}"/>
              </a:ext>
            </a:extLst>
          </p:cNvPr>
          <p:cNvSpPr>
            <a:spLocks noGrp="1"/>
          </p:cNvSpPr>
          <p:nvPr>
            <p:ph type="body" idx="41"/>
          </p:nvPr>
        </p:nvSpPr>
        <p:spPr/>
        <p:txBody>
          <a:bodyPr rtlCol="0"/>
          <a:lstStyle/>
          <a:p>
            <a:pPr rtl="0"/>
            <a:r>
              <a:rPr lang="hu-HU" dirty="0"/>
              <a:t>Fülöp</a:t>
            </a:r>
            <a:br>
              <a:rPr lang="hu-HU" dirty="0"/>
            </a:br>
            <a:r>
              <a:rPr lang="hu-HU" dirty="0"/>
              <a:t>Ágnes</a:t>
            </a:r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595DD6C0-4657-481E-B5A8-0B444B50E5E8}"/>
              </a:ext>
            </a:extLst>
          </p:cNvPr>
          <p:cNvSpPr>
            <a:spLocks noGrp="1"/>
          </p:cNvSpPr>
          <p:nvPr>
            <p:ph type="body" idx="40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ABF18825-3673-4E2F-9474-F09020A67442}"/>
              </a:ext>
            </a:extLst>
          </p:cNvPr>
          <p:cNvSpPr>
            <a:spLocks noGrp="1"/>
          </p:cNvSpPr>
          <p:nvPr>
            <p:ph type="body" idx="39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endParaRPr lang="hu-HU" dirty="0"/>
          </a:p>
        </p:txBody>
      </p:sp>
      <p:pic>
        <p:nvPicPr>
          <p:cNvPr id="27" name="Kép helyőrzője 26" descr="Csapattag fényképe">
            <a:extLst>
              <a:ext uri="{FF2B5EF4-FFF2-40B4-BE49-F238E27FC236}">
                <a16:creationId xmlns:a16="http://schemas.microsoft.com/office/drawing/2014/main" id="{9DA5D71E-B63C-4740-816D-8CDEE14F11DF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6" name="Szöveg helye 15">
            <a:extLst>
              <a:ext uri="{FF2B5EF4-FFF2-40B4-BE49-F238E27FC236}">
                <a16:creationId xmlns:a16="http://schemas.microsoft.com/office/drawing/2014/main" id="{2CF8C6EE-D14B-4593-90D6-CA24946F3DC4}"/>
              </a:ext>
            </a:extLst>
          </p:cNvPr>
          <p:cNvSpPr>
            <a:spLocks noGrp="1"/>
          </p:cNvSpPr>
          <p:nvPr>
            <p:ph type="body" idx="38"/>
          </p:nvPr>
        </p:nvSpPr>
        <p:spPr/>
        <p:txBody>
          <a:bodyPr rtlCol="0"/>
          <a:lstStyle/>
          <a:p>
            <a:pPr rtl="0"/>
            <a:r>
              <a:rPr lang="hu-HU" dirty="0" err="1"/>
              <a:t>Jens</a:t>
            </a:r>
            <a:br>
              <a:rPr lang="hu-HU" dirty="0"/>
            </a:br>
            <a:r>
              <a:rPr lang="hu-HU" dirty="0" err="1"/>
              <a:t>Martensson</a:t>
            </a:r>
            <a:endParaRPr lang="hu-HU" dirty="0"/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074B00A8-C634-4ADE-8407-B48B655AD7CB}"/>
              </a:ext>
            </a:extLst>
          </p:cNvPr>
          <p:cNvSpPr>
            <a:spLocks noGrp="1"/>
          </p:cNvSpPr>
          <p:nvPr>
            <p:ph type="body" idx="37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EE81294A-CAF6-4165-AEDE-DAEA7D37245F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EB9258-160D-4BB3-A188-7E7AF286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17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6BF718-7BC2-4E24-9402-487DFCC2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3F124E-AEC7-4C29-BD76-3837B6D8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581376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Kép helyőrzője 26" descr="Céges embléma">
            <a:extLst>
              <a:ext uri="{FF2B5EF4-FFF2-40B4-BE49-F238E27FC236}">
                <a16:creationId xmlns:a16="http://schemas.microsoft.com/office/drawing/2014/main" id="{FB2A302B-5D3B-40EC-8BE1-BD296E9D1B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EC73CEBD-6C08-4E0C-9E82-28D34A80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Csapatdia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729B071F-0D12-4804-81BF-4FFB907A2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</p:txBody>
      </p:sp>
      <p:pic>
        <p:nvPicPr>
          <p:cNvPr id="29" name="Kép helyőrzője 28" descr="Csapattag fényképe">
            <a:extLst>
              <a:ext uri="{FF2B5EF4-FFF2-40B4-BE49-F238E27FC236}">
                <a16:creationId xmlns:a16="http://schemas.microsoft.com/office/drawing/2014/main" id="{A708FADF-CDF9-4068-A8FE-942FF9B74D1A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Szöveg helye 8">
            <a:extLst>
              <a:ext uri="{FF2B5EF4-FFF2-40B4-BE49-F238E27FC236}">
                <a16:creationId xmlns:a16="http://schemas.microsoft.com/office/drawing/2014/main" id="{E8E00B54-1018-41A0-92AF-46D993630EBD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Angelica</a:t>
            </a:r>
            <a:r>
              <a:rPr lang="hu-HU" dirty="0"/>
              <a:t> </a:t>
            </a:r>
            <a:r>
              <a:rPr lang="hu-HU" dirty="0" err="1"/>
              <a:t>Astrom</a:t>
            </a:r>
            <a:endParaRPr lang="hu-HU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8B8E9E7A-1401-4E48-8C01-EA96A17BDF2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pic>
        <p:nvPicPr>
          <p:cNvPr id="33" name="Kép helyőrzője 32" descr="Csapattag fényképe">
            <a:extLst>
              <a:ext uri="{FF2B5EF4-FFF2-40B4-BE49-F238E27FC236}">
                <a16:creationId xmlns:a16="http://schemas.microsoft.com/office/drawing/2014/main" id="{F95B48C7-C603-448B-812B-C71705CF1B75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Szöveg helye 14">
            <a:extLst>
              <a:ext uri="{FF2B5EF4-FFF2-40B4-BE49-F238E27FC236}">
                <a16:creationId xmlns:a16="http://schemas.microsoft.com/office/drawing/2014/main" id="{EA6A43FA-5FFA-484D-8D0E-4C7A54F256A7}"/>
              </a:ext>
            </a:extLst>
          </p:cNvPr>
          <p:cNvSpPr>
            <a:spLocks noGrp="1"/>
          </p:cNvSpPr>
          <p:nvPr>
            <p:ph type="body" idx="38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Ian</a:t>
            </a:r>
            <a:r>
              <a:rPr lang="hu-HU" dirty="0"/>
              <a:t> </a:t>
            </a:r>
            <a:r>
              <a:rPr lang="hu-HU" dirty="0" err="1"/>
              <a:t>Hansson</a:t>
            </a:r>
            <a:endParaRPr lang="hu-HU" dirty="0"/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35DC5F9B-BC45-47B1-9569-03F24C5366F9}"/>
              </a:ext>
            </a:extLst>
          </p:cNvPr>
          <p:cNvSpPr>
            <a:spLocks noGrp="1"/>
          </p:cNvSpPr>
          <p:nvPr>
            <p:ph type="body" idx="37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pic>
        <p:nvPicPr>
          <p:cNvPr id="37" name="Kép helyőrzője 36" descr="Csapattag fényképe">
            <a:extLst>
              <a:ext uri="{FF2B5EF4-FFF2-40B4-BE49-F238E27FC236}">
                <a16:creationId xmlns:a16="http://schemas.microsoft.com/office/drawing/2014/main" id="{F1002F14-48E2-4C6C-8D4B-E53C0E3ACF27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1" name="Szöveg helye 20">
            <a:extLst>
              <a:ext uri="{FF2B5EF4-FFF2-40B4-BE49-F238E27FC236}">
                <a16:creationId xmlns:a16="http://schemas.microsoft.com/office/drawing/2014/main" id="{147D9385-B136-49E1-B50C-69B506A798B8}"/>
              </a:ext>
            </a:extLst>
          </p:cNvPr>
          <p:cNvSpPr>
            <a:spLocks noGrp="1"/>
          </p:cNvSpPr>
          <p:nvPr>
            <p:ph type="body" idx="44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Jens</a:t>
            </a:r>
            <a:r>
              <a:rPr lang="hu-HU" dirty="0"/>
              <a:t> </a:t>
            </a:r>
            <a:r>
              <a:rPr lang="hu-HU" dirty="0" err="1"/>
              <a:t>Martensson</a:t>
            </a:r>
            <a:endParaRPr lang="hu-HU" dirty="0"/>
          </a:p>
        </p:txBody>
      </p:sp>
      <p:sp>
        <p:nvSpPr>
          <p:cNvPr id="20" name="Szöveg helye 19">
            <a:extLst>
              <a:ext uri="{FF2B5EF4-FFF2-40B4-BE49-F238E27FC236}">
                <a16:creationId xmlns:a16="http://schemas.microsoft.com/office/drawing/2014/main" id="{41A02D9C-967F-448E-86B7-F059F13F3C49}"/>
              </a:ext>
            </a:extLst>
          </p:cNvPr>
          <p:cNvSpPr>
            <a:spLocks noGrp="1"/>
          </p:cNvSpPr>
          <p:nvPr>
            <p:ph type="body" idx="43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pic>
        <p:nvPicPr>
          <p:cNvPr id="31" name="Kép helyőrzője 30" descr="Csapattag fényképe">
            <a:extLst>
              <a:ext uri="{FF2B5EF4-FFF2-40B4-BE49-F238E27FC236}">
                <a16:creationId xmlns:a16="http://schemas.microsoft.com/office/drawing/2014/main" id="{D5DA1A83-8A79-4EA5-9999-C608FC485F96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Szöveg helye 11">
            <a:extLst>
              <a:ext uri="{FF2B5EF4-FFF2-40B4-BE49-F238E27FC236}">
                <a16:creationId xmlns:a16="http://schemas.microsoft.com/office/drawing/2014/main" id="{B11CC907-EFCA-4CEC-AC44-3398B08E17B6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 rtlCol="0"/>
          <a:lstStyle/>
          <a:p>
            <a:pPr rtl="0"/>
            <a:r>
              <a:rPr lang="hu-HU" dirty="0" err="1"/>
              <a:t>Angelica</a:t>
            </a:r>
            <a:r>
              <a:rPr lang="hu-HU" dirty="0"/>
              <a:t> </a:t>
            </a:r>
            <a:r>
              <a:rPr lang="hu-HU" dirty="0" err="1"/>
              <a:t>Astrom</a:t>
            </a:r>
            <a:endParaRPr lang="hu-HU" dirty="0"/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4B8E0463-D6FB-4AF0-B713-3509AC7FCDF3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pic>
        <p:nvPicPr>
          <p:cNvPr id="35" name="Kép helyőrzője 34" descr="Csapattag fényképe">
            <a:extLst>
              <a:ext uri="{FF2B5EF4-FFF2-40B4-BE49-F238E27FC236}">
                <a16:creationId xmlns:a16="http://schemas.microsoft.com/office/drawing/2014/main" id="{15B06B14-F8EB-4DD3-935C-A919FA6B579E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8" name="Szöveg helye 17">
            <a:extLst>
              <a:ext uri="{FF2B5EF4-FFF2-40B4-BE49-F238E27FC236}">
                <a16:creationId xmlns:a16="http://schemas.microsoft.com/office/drawing/2014/main" id="{69CBA094-5068-4A31-8608-0B82623441B0}"/>
              </a:ext>
            </a:extLst>
          </p:cNvPr>
          <p:cNvSpPr>
            <a:spLocks noGrp="1"/>
          </p:cNvSpPr>
          <p:nvPr>
            <p:ph type="body" idx="41"/>
          </p:nvPr>
        </p:nvSpPr>
        <p:spPr/>
        <p:txBody>
          <a:bodyPr rtlCol="0"/>
          <a:lstStyle/>
          <a:p>
            <a:pPr rtl="0"/>
            <a:r>
              <a:rPr lang="hu-HU" dirty="0" err="1"/>
              <a:t>Ian</a:t>
            </a:r>
            <a:r>
              <a:rPr lang="hu-HU" dirty="0"/>
              <a:t> </a:t>
            </a:r>
            <a:r>
              <a:rPr lang="hu-HU" dirty="0" err="1"/>
              <a:t>Hansson</a:t>
            </a:r>
            <a:endParaRPr lang="hu-HU" dirty="0"/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D3FB2709-DCAC-409A-A8AC-512006324CA0}"/>
              </a:ext>
            </a:extLst>
          </p:cNvPr>
          <p:cNvSpPr>
            <a:spLocks noGrp="1"/>
          </p:cNvSpPr>
          <p:nvPr>
            <p:ph type="body" idx="40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pic>
        <p:nvPicPr>
          <p:cNvPr id="39" name="Kép helyőrzője 38" descr="Csapattag fényképe">
            <a:extLst>
              <a:ext uri="{FF2B5EF4-FFF2-40B4-BE49-F238E27FC236}">
                <a16:creationId xmlns:a16="http://schemas.microsoft.com/office/drawing/2014/main" id="{17AC82E1-4FC1-4FDD-95AF-9A92CEFFC144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Szöveg helye 23">
            <a:extLst>
              <a:ext uri="{FF2B5EF4-FFF2-40B4-BE49-F238E27FC236}">
                <a16:creationId xmlns:a16="http://schemas.microsoft.com/office/drawing/2014/main" id="{3E78F880-37A0-44ED-9FE3-072A94BE41C0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 rtlCol="0"/>
          <a:lstStyle/>
          <a:p>
            <a:pPr rtl="0"/>
            <a:r>
              <a:rPr lang="hu-HU" dirty="0" err="1"/>
              <a:t>Jens</a:t>
            </a:r>
            <a:r>
              <a:rPr lang="hu-HU" dirty="0"/>
              <a:t> </a:t>
            </a:r>
            <a:r>
              <a:rPr lang="hu-HU" dirty="0" err="1"/>
              <a:t>Martensson</a:t>
            </a:r>
            <a:endParaRPr lang="hu-HU" dirty="0"/>
          </a:p>
        </p:txBody>
      </p:sp>
      <p:sp>
        <p:nvSpPr>
          <p:cNvPr id="23" name="Szöveg helye 22">
            <a:extLst>
              <a:ext uri="{FF2B5EF4-FFF2-40B4-BE49-F238E27FC236}">
                <a16:creationId xmlns:a16="http://schemas.microsoft.com/office/drawing/2014/main" id="{B4AF37E2-1BAA-4437-8BC1-97C399F3C70F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 rtlCol="0"/>
          <a:lstStyle/>
          <a:p>
            <a:pPr rtl="0"/>
            <a:r>
              <a:rPr lang="hu-HU" dirty="0"/>
              <a:t>Csapattag beosztása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07308EF-8E55-47A7-8860-7C83879E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18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0A2A28C-687F-445D-9377-8CE82F01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9AC057B3-EF94-4CBD-B7DB-DB85697B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4031850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helyőrzője 20" descr="Céges embléma">
            <a:extLst>
              <a:ext uri="{FF2B5EF4-FFF2-40B4-BE49-F238E27FC236}">
                <a16:creationId xmlns:a16="http://schemas.microsoft.com/office/drawing/2014/main" id="{6CEE2AB6-77F9-42A9-87B8-B3F629E6B0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7EE037F-A730-41CA-8CC6-20499D3E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FINANSZÍROZÁS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ABA1C75-C69D-4D41-A555-3BFDFAB3B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ELIT. MAECENAS PORTTITOR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4D0DF72-0ED9-4177-AA9F-92155707E580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1 500 000 Ft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3248500B-B1C0-4B93-A5C8-F3528E3F0940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FC0926F0-25F5-4366-A9CC-C019C576C641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1 500 000 Ft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10F7DD00-2746-4E1D-9ED9-2A2A45757651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E06AE86F-CBE5-4A5D-B862-6A87F5A8538C}"/>
              </a:ext>
            </a:extLst>
          </p:cNvPr>
          <p:cNvSpPr>
            <a:spLocks noGrp="1"/>
          </p:cNvSpPr>
          <p:nvPr>
            <p:ph type="body" idx="47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1 500 000 Ft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68F52BDF-E8EE-4030-93B5-FDB571BFF38E}"/>
              </a:ext>
            </a:extLst>
          </p:cNvPr>
          <p:cNvSpPr>
            <a:spLocks noGrp="1"/>
          </p:cNvSpPr>
          <p:nvPr>
            <p:ph type="body" idx="48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sp>
        <p:nvSpPr>
          <p:cNvPr id="14" name="Szöveg helye 13">
            <a:extLst>
              <a:ext uri="{FF2B5EF4-FFF2-40B4-BE49-F238E27FC236}">
                <a16:creationId xmlns:a16="http://schemas.microsoft.com/office/drawing/2014/main" id="{BBD4E04C-CA27-41FE-B45E-FEF8371A03F1}"/>
              </a:ext>
            </a:extLst>
          </p:cNvPr>
          <p:cNvSpPr>
            <a:spLocks noGrp="1"/>
          </p:cNvSpPr>
          <p:nvPr>
            <p:ph type="body" idx="49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1 500 000 Ft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55D1607E-8654-400A-85C7-8239EF17935F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B3898360-1205-49DF-846A-7D37E0219C01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2 500 000 Ft</a:t>
            </a:r>
          </a:p>
        </p:txBody>
      </p:sp>
      <p:sp>
        <p:nvSpPr>
          <p:cNvPr id="17" name="Szöveg helye 16">
            <a:extLst>
              <a:ext uri="{FF2B5EF4-FFF2-40B4-BE49-F238E27FC236}">
                <a16:creationId xmlns:a16="http://schemas.microsoft.com/office/drawing/2014/main" id="{F24221C2-E578-4DC7-AA80-13816114039D}"/>
              </a:ext>
            </a:extLst>
          </p:cNvPr>
          <p:cNvSpPr>
            <a:spLocks noGrp="1"/>
          </p:cNvSpPr>
          <p:nvPr>
            <p:ph type="body" idx="52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sp>
        <p:nvSpPr>
          <p:cNvPr id="18" name="Szöveg helye 17">
            <a:extLst>
              <a:ext uri="{FF2B5EF4-FFF2-40B4-BE49-F238E27FC236}">
                <a16:creationId xmlns:a16="http://schemas.microsoft.com/office/drawing/2014/main" id="{DA322BE0-16AC-4DA8-B14C-E1CFF6F7BB47}"/>
              </a:ext>
            </a:extLst>
          </p:cNvPr>
          <p:cNvSpPr>
            <a:spLocks noGrp="1"/>
          </p:cNvSpPr>
          <p:nvPr>
            <p:ph type="body" idx="53"/>
          </p:nvPr>
        </p:nvSpPr>
        <p:spPr/>
        <p:txBody>
          <a:bodyPr rtlCol="0">
            <a:normAutofit fontScale="92500"/>
          </a:bodyPr>
          <a:lstStyle/>
          <a:p>
            <a:pPr rtl="0"/>
            <a:r>
              <a:rPr lang="hu-HU" dirty="0"/>
              <a:t>1 500 000 Ft</a:t>
            </a:r>
          </a:p>
        </p:txBody>
      </p:sp>
      <p:sp>
        <p:nvSpPr>
          <p:cNvPr id="19" name="Szöveg helye 18">
            <a:extLst>
              <a:ext uri="{FF2B5EF4-FFF2-40B4-BE49-F238E27FC236}">
                <a16:creationId xmlns:a16="http://schemas.microsoft.com/office/drawing/2014/main" id="{AD114D9F-E5FF-4D6E-AB15-975F8897E15C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 rtlCol="0"/>
          <a:lstStyle/>
          <a:p>
            <a:pPr rtl="0"/>
            <a:r>
              <a:rPr lang="hu-HU" dirty="0"/>
              <a:t>Kategória címe</a:t>
            </a:r>
          </a:p>
        </p:txBody>
      </p:sp>
      <p:graphicFrame>
        <p:nvGraphicFramePr>
          <p:cNvPr id="23" name="Diagram helye 22" descr="Tortadiagram">
            <a:extLst>
              <a:ext uri="{FF2B5EF4-FFF2-40B4-BE49-F238E27FC236}">
                <a16:creationId xmlns:a16="http://schemas.microsoft.com/office/drawing/2014/main" id="{CD7B30DD-39D7-4EDB-B49F-BBF497E33747}"/>
              </a:ext>
            </a:extLst>
          </p:cNvPr>
          <p:cNvGraphicFramePr>
            <a:graphicFrameLocks noGrp="1"/>
          </p:cNvGraphicFramePr>
          <p:nvPr>
            <p:ph type="chart" sz="quarter" idx="55"/>
            <p:extLst>
              <p:ext uri="{D42A27DB-BD31-4B8C-83A1-F6EECF244321}">
                <p14:modId xmlns:p14="http://schemas.microsoft.com/office/powerpoint/2010/main" val="1404568247"/>
              </p:ext>
            </p:extLst>
          </p:nvPr>
        </p:nvGraphicFramePr>
        <p:xfrm>
          <a:off x="6924675" y="860425"/>
          <a:ext cx="4483100" cy="457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A99AA7-B30F-419C-B3C8-975D9C78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19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681D707-0D77-46E2-8C22-B5ADEB93C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0146FC-F18A-4E5C-9079-B306E40F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623623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CA87F037-7DB2-45C9-A176-874E6A13B3A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Kép helyőrzője 19" descr="Absztrakt háttér">
            <a:extLst>
              <a:ext uri="{FF2B5EF4-FFF2-40B4-BE49-F238E27FC236}">
                <a16:creationId xmlns:a16="http://schemas.microsoft.com/office/drawing/2014/main" id="{B9CF847D-0BA8-4D40-B95D-DAC8A415A5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953F70E9-6111-446A-BD49-B6A996FA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ÖSSZESÍTÉS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33221DE2-465E-4B89-BDBB-17EC72793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hu-HU" dirty="0"/>
              <a:t>LOREM IPSUM DOLOR SIT AMET, CONSECTETUER ADIPISCING ELIT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7F9E6494-1485-4A3D-8CD3-31B5FAC1689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9EB9F42-DBAC-4200-A2A6-96F4D943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20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032CBFD-8EB3-4D94-8FDF-C4198EF1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2ACC7CD0-CDEF-499B-929F-253562EB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202239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helyőrzője 2" descr="Céges embléma">
            <a:extLst>
              <a:ext uri="{FF2B5EF4-FFF2-40B4-BE49-F238E27FC236}">
                <a16:creationId xmlns:a16="http://schemas.microsoft.com/office/drawing/2014/main" id="{8220D5DE-4628-433F-8A23-3DEA457104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D2F9A33A-E955-4DFB-9469-3FDBA670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KÖSZÖNJÜK!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58804881-51D2-4A81-BABB-704FBED23E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hu-HU" dirty="0"/>
              <a:t>Katona Kevin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8D2C39EE-B4D3-4E49-BF2C-871A33509C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hu-HU" dirty="0"/>
              <a:t>Telefonszám:</a:t>
            </a:r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93DB312C-BF94-484C-BB02-2534E26CEC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hu-HU" dirty="0"/>
              <a:t>678-555-0134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53C87786-C7F5-4B45-904D-00CC865572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hu-HU" dirty="0"/>
              <a:t>E-mail-cím: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D8E60535-F276-49C5-9346-D536D6899F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hu-HU" dirty="0"/>
              <a:t>bergqvist@treyresearch.com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85395049-FB9C-455B-8DCA-4BD0D35F1D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hu-HU" dirty="0"/>
              <a:t>Weboldal:</a:t>
            </a:r>
          </a:p>
        </p:txBody>
      </p:sp>
      <p:sp>
        <p:nvSpPr>
          <p:cNvPr id="13" name="Szöveg helye 12">
            <a:extLst>
              <a:ext uri="{FF2B5EF4-FFF2-40B4-BE49-F238E27FC236}">
                <a16:creationId xmlns:a16="http://schemas.microsoft.com/office/drawing/2014/main" id="{D55212BC-6862-4B56-B856-7A97BBD3D4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hu-HU" dirty="0"/>
              <a:t>http://www.treyresearch.net/</a:t>
            </a:r>
          </a:p>
        </p:txBody>
      </p:sp>
      <p:pic>
        <p:nvPicPr>
          <p:cNvPr id="15" name="Kép helyőrzője 14" descr="Absztrakt háttér">
            <a:extLst>
              <a:ext uri="{FF2B5EF4-FFF2-40B4-BE49-F238E27FC236}">
                <a16:creationId xmlns:a16="http://schemas.microsoft.com/office/drawing/2014/main" id="{72AD0CC3-F8DE-4C10-916A-24BC65B1D28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5672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helyőrzője 8" descr="Céges embléma">
            <a:extLst>
              <a:ext uri="{FF2B5EF4-FFF2-40B4-BE49-F238E27FC236}">
                <a16:creationId xmlns:a16="http://schemas.microsoft.com/office/drawing/2014/main" id="{4826D6B4-2F2D-4028-9520-001218B5EC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Cím 5">
            <a:extLst>
              <a:ext uri="{FF2B5EF4-FFF2-40B4-BE49-F238E27FC236}">
                <a16:creationId xmlns:a16="http://schemas.microsoft.com/office/drawing/2014/main" id="{DBCAB2DE-EF98-46F8-A621-2E1A6624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FÜGGELÉK</a:t>
            </a:r>
          </a:p>
        </p:txBody>
      </p:sp>
      <p:pic>
        <p:nvPicPr>
          <p:cNvPr id="11" name="Kép helyőrzője 10" descr="Absztrakt háttér">
            <a:extLst>
              <a:ext uri="{FF2B5EF4-FFF2-40B4-BE49-F238E27FC236}">
                <a16:creationId xmlns:a16="http://schemas.microsoft.com/office/drawing/2014/main" id="{FBF9093D-0565-48ED-AA9F-AE0E349471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C57986C-983F-481D-81FB-E03E9127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22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55F236F-BB92-408F-9A08-D5576EB5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8C55721-47F2-4ED5-B964-D4332938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689311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helyőrzője 19" descr="Céges embléma">
            <a:extLst>
              <a:ext uri="{FF2B5EF4-FFF2-40B4-BE49-F238E27FC236}">
                <a16:creationId xmlns:a16="http://schemas.microsoft.com/office/drawing/2014/main" id="{32FE3A4A-F86E-45E3-85CF-8A37248729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8D098301-1531-4D1F-B3B5-AA2E1383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VÉLEMÉNYEK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21D41190-7F39-488F-9E5D-4AE05DDC58E3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6794967E-8F70-4233-99EA-5336D5F27F17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 rtlCol="0"/>
          <a:lstStyle/>
          <a:p>
            <a:pPr rtl="0"/>
            <a:r>
              <a:rPr lang="hu-HU" dirty="0"/>
              <a:t>1. személy </a:t>
            </a:r>
            <a:br>
              <a:rPr lang="hu-HU" dirty="0"/>
            </a:br>
            <a:r>
              <a:rPr lang="hu-HU" dirty="0"/>
              <a:t>Név</a:t>
            </a: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BA0576E1-AFC7-43F6-8EF6-A945CD9BFC4B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/>
          <a:lstStyle/>
          <a:p>
            <a:pPr rtl="0"/>
            <a:r>
              <a:rPr lang="hu-HU" dirty="0"/>
              <a:t>Ügyfél címe</a:t>
            </a:r>
          </a:p>
        </p:txBody>
      </p:sp>
      <p:pic>
        <p:nvPicPr>
          <p:cNvPr id="22" name="Kép helyőrzője 21" descr="Csapattag fényképe">
            <a:extLst>
              <a:ext uri="{FF2B5EF4-FFF2-40B4-BE49-F238E27FC236}">
                <a16:creationId xmlns:a16="http://schemas.microsoft.com/office/drawing/2014/main" id="{6AF672FA-0966-48DE-887F-1BB8A421C9F0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Szöveg helye 13">
            <a:extLst>
              <a:ext uri="{FF2B5EF4-FFF2-40B4-BE49-F238E27FC236}">
                <a16:creationId xmlns:a16="http://schemas.microsoft.com/office/drawing/2014/main" id="{59AFD75A-51EE-4D37-BEC2-840C26DF40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</p:txBody>
      </p:sp>
      <p:sp>
        <p:nvSpPr>
          <p:cNvPr id="12" name="Szöveg helye 11">
            <a:extLst>
              <a:ext uri="{FF2B5EF4-FFF2-40B4-BE49-F238E27FC236}">
                <a16:creationId xmlns:a16="http://schemas.microsoft.com/office/drawing/2014/main" id="{251DECD4-A8B1-4A96-A9C8-05065862365F}"/>
              </a:ext>
            </a:extLst>
          </p:cNvPr>
          <p:cNvSpPr>
            <a:spLocks noGrp="1"/>
          </p:cNvSpPr>
          <p:nvPr>
            <p:ph type="body" idx="51"/>
          </p:nvPr>
        </p:nvSpPr>
        <p:spPr/>
        <p:txBody>
          <a:bodyPr rtlCol="0"/>
          <a:lstStyle/>
          <a:p>
            <a:pPr rtl="0"/>
            <a:r>
              <a:rPr lang="hu-HU" dirty="0"/>
              <a:t>2. személy</a:t>
            </a:r>
            <a:br>
              <a:rPr lang="hu-HU" dirty="0"/>
            </a:br>
            <a:r>
              <a:rPr lang="hu-HU" dirty="0"/>
              <a:t>Név</a:t>
            </a: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D025FF9A-0032-4520-B1C4-7AB210C8D49D}"/>
              </a:ext>
            </a:extLst>
          </p:cNvPr>
          <p:cNvSpPr>
            <a:spLocks noGrp="1"/>
          </p:cNvSpPr>
          <p:nvPr>
            <p:ph type="body" idx="50"/>
          </p:nvPr>
        </p:nvSpPr>
        <p:spPr/>
        <p:txBody>
          <a:bodyPr rtlCol="0"/>
          <a:lstStyle/>
          <a:p>
            <a:pPr rtl="0"/>
            <a:r>
              <a:rPr lang="hu-HU" dirty="0"/>
              <a:t>Ügyfél címe</a:t>
            </a:r>
          </a:p>
        </p:txBody>
      </p:sp>
      <p:pic>
        <p:nvPicPr>
          <p:cNvPr id="24" name="Kép helyőrzője 23" descr="Csapattag fényképe">
            <a:extLst>
              <a:ext uri="{FF2B5EF4-FFF2-40B4-BE49-F238E27FC236}">
                <a16:creationId xmlns:a16="http://schemas.microsoft.com/office/drawing/2014/main" id="{E881B889-6B21-40D2-AB48-80206FFE1C4E}"/>
              </a:ext>
            </a:extLst>
          </p:cNvPr>
          <p:cNvPicPr>
            <a:picLocks noGrp="1" noChangeAspect="1"/>
          </p:cNvPicPr>
          <p:nvPr>
            <p:ph type="pic" sz="quarter" idx="5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8" name="Szöveg helye 17">
            <a:extLst>
              <a:ext uri="{FF2B5EF4-FFF2-40B4-BE49-F238E27FC236}">
                <a16:creationId xmlns:a16="http://schemas.microsoft.com/office/drawing/2014/main" id="{60D0B87D-CB88-40FC-B9B2-76F6F933EAC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</p:txBody>
      </p:sp>
      <p:sp>
        <p:nvSpPr>
          <p:cNvPr id="16" name="Szöveg helye 15">
            <a:extLst>
              <a:ext uri="{FF2B5EF4-FFF2-40B4-BE49-F238E27FC236}">
                <a16:creationId xmlns:a16="http://schemas.microsoft.com/office/drawing/2014/main" id="{145029F8-F63F-48BD-8D26-E0FB1877D54A}"/>
              </a:ext>
            </a:extLst>
          </p:cNvPr>
          <p:cNvSpPr>
            <a:spLocks noGrp="1"/>
          </p:cNvSpPr>
          <p:nvPr>
            <p:ph type="body" idx="55"/>
          </p:nvPr>
        </p:nvSpPr>
        <p:spPr/>
        <p:txBody>
          <a:bodyPr rtlCol="0"/>
          <a:lstStyle/>
          <a:p>
            <a:pPr rtl="0"/>
            <a:r>
              <a:rPr lang="hu-HU" dirty="0"/>
              <a:t>3. személy</a:t>
            </a:r>
            <a:br>
              <a:rPr lang="hu-HU" dirty="0"/>
            </a:br>
            <a:r>
              <a:rPr lang="hu-HU" dirty="0"/>
              <a:t>Név</a:t>
            </a:r>
          </a:p>
        </p:txBody>
      </p:sp>
      <p:sp>
        <p:nvSpPr>
          <p:cNvPr id="15" name="Szöveg helye 14">
            <a:extLst>
              <a:ext uri="{FF2B5EF4-FFF2-40B4-BE49-F238E27FC236}">
                <a16:creationId xmlns:a16="http://schemas.microsoft.com/office/drawing/2014/main" id="{7C674253-BB9C-4BB6-BEC6-066264345C61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 rtlCol="0"/>
          <a:lstStyle/>
          <a:p>
            <a:pPr rtl="0"/>
            <a:r>
              <a:rPr lang="hu-HU" dirty="0"/>
              <a:t>Ügyfél címe</a:t>
            </a:r>
          </a:p>
        </p:txBody>
      </p:sp>
      <p:pic>
        <p:nvPicPr>
          <p:cNvPr id="26" name="Kép helyőrzője 25" descr="Csapattag fényképe">
            <a:extLst>
              <a:ext uri="{FF2B5EF4-FFF2-40B4-BE49-F238E27FC236}">
                <a16:creationId xmlns:a16="http://schemas.microsoft.com/office/drawing/2014/main" id="{8FDDB9F3-117D-4589-A099-58DAD9B062A6}"/>
              </a:ext>
            </a:extLst>
          </p:cNvPr>
          <p:cNvPicPr>
            <a:picLocks noGrp="1" noChangeAspect="1"/>
          </p:cNvPicPr>
          <p:nvPr>
            <p:ph type="pic" sz="quarter" idx="56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702740-202F-4187-9EDA-814B3E4A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23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108C01E-B7AF-4AE4-ACD2-39AE40EE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CE66A137-D154-4724-B8FF-4F012A45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3343489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helyőrzője 10" descr="Céges embléma">
            <a:extLst>
              <a:ext uri="{FF2B5EF4-FFF2-40B4-BE49-F238E27FC236}">
                <a16:creationId xmlns:a16="http://schemas.microsoft.com/office/drawing/2014/main" id="{271FB403-5130-4E57-8F57-B75FF95660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3E11F97-1677-43C0-8ED0-4CB92A53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6" y="1980591"/>
            <a:ext cx="4464049" cy="1177174"/>
          </a:xfrm>
        </p:spPr>
        <p:txBody>
          <a:bodyPr rtlCol="0"/>
          <a:lstStyle/>
          <a:p>
            <a:pPr rtl="0"/>
            <a:r>
              <a:rPr lang="hu-HU" spc="-90" dirty="0"/>
              <a:t>ESETTANULMÁNY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77ADD4D-2C19-4F7E-B75C-08B47053A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/>
              <a:t>LOREM IPSUM DOLOR SIT AMET, CONSECTETUER ADIPISCING ELIT. MAECENAS PORTTITOR CONGUE MASSA. FUSCE POSUERE, MAGNA SED PULVINAR ULTRICIES, PURUS LECTUS MALESUADA LIBERO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6C47BEEC-998C-4585-8B1A-09116FD17BCF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 rtlCol="0"/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 </a:t>
            </a:r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 </a:t>
            </a:r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 </a:t>
            </a:r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  <a:p>
            <a:pPr rtl="0"/>
            <a:endParaRPr lang="hu-HU" dirty="0"/>
          </a:p>
        </p:txBody>
      </p:sp>
      <p:sp>
        <p:nvSpPr>
          <p:cNvPr id="9" name="Szöveg helye 8">
            <a:extLst>
              <a:ext uri="{FF2B5EF4-FFF2-40B4-BE49-F238E27FC236}">
                <a16:creationId xmlns:a16="http://schemas.microsoft.com/office/drawing/2014/main" id="{145EDD4A-55D8-42A3-A994-187444614283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  <a:p>
            <a:pPr rtl="0"/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CF693C1-BDA6-43BD-BFD6-4BAE7901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t>24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AA6E94-F4BD-48C1-B0FD-D2D7F6F6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FD2C9D-BA15-406F-8A48-BDACE07B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1763599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helyőrzője 9" descr="Céges embléma">
            <a:extLst>
              <a:ext uri="{FF2B5EF4-FFF2-40B4-BE49-F238E27FC236}">
                <a16:creationId xmlns:a16="http://schemas.microsoft.com/office/drawing/2014/main" id="{F134DE68-610E-4EEB-B74B-452C1FAC1DA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pic>
        <p:nvPicPr>
          <p:cNvPr id="23" name="Kép helyőrzője 22" descr="Absztrakt háttér">
            <a:extLst>
              <a:ext uri="{FF2B5EF4-FFF2-40B4-BE49-F238E27FC236}">
                <a16:creationId xmlns:a16="http://schemas.microsoft.com/office/drawing/2014/main" id="{8326B02F-CCB2-45DB-8011-D2968AD61203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21" name="Kép helyőrzője 20" descr="Absztrakt háttér">
            <a:extLst>
              <a:ext uri="{FF2B5EF4-FFF2-40B4-BE49-F238E27FC236}">
                <a16:creationId xmlns:a16="http://schemas.microsoft.com/office/drawing/2014/main" id="{CFD930F2-FED4-475C-A75D-6AB0467299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971E61A3-1D57-4708-B548-E5986378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MOBILVERZIÓ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106F646D-B036-48DA-A242-2C9263AC3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hu-HU" dirty="0"/>
              <a:t>LOREM IPSUM DOLOR SIT AMET, CONSECTETUER ADIPISCING ELIT. MAECENAS PORTTITOR CONGUE MASSA. FUSCE POSUERE, MAGNA SED PULVINAR ULTRICIES, PURUS LECTUS MALESUADA LIBERO</a:t>
            </a:r>
          </a:p>
          <a:p>
            <a:pPr rtl="0"/>
            <a:endParaRPr lang="hu-HU" dirty="0"/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FA2259AB-530E-4F31-A710-6CF0B478F1C7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elit. Maecenas </a:t>
            </a:r>
            <a:r>
              <a:rPr lang="hu-HU" dirty="0" err="1"/>
              <a:t>porttitor</a:t>
            </a:r>
            <a:r>
              <a:rPr lang="hu-HU" dirty="0"/>
              <a:t> </a:t>
            </a:r>
            <a:r>
              <a:rPr lang="hu-HU" dirty="0" err="1"/>
              <a:t>congue</a:t>
            </a:r>
            <a:r>
              <a:rPr lang="hu-HU" dirty="0"/>
              <a:t> </a:t>
            </a:r>
            <a:r>
              <a:rPr lang="hu-HU" dirty="0" err="1"/>
              <a:t>massa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</a:t>
            </a:r>
            <a:r>
              <a:rPr lang="hu-HU" dirty="0" err="1"/>
              <a:t>posuere</a:t>
            </a:r>
            <a:r>
              <a:rPr lang="hu-HU" dirty="0"/>
              <a:t>,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pulvinar</a:t>
            </a:r>
            <a:r>
              <a:rPr lang="hu-HU" dirty="0"/>
              <a:t> </a:t>
            </a:r>
            <a:r>
              <a:rPr lang="hu-HU" dirty="0" err="1"/>
              <a:t>ultricies</a:t>
            </a:r>
            <a:r>
              <a:rPr lang="hu-HU" dirty="0"/>
              <a:t>, </a:t>
            </a:r>
            <a:r>
              <a:rPr lang="hu-HU" dirty="0" err="1"/>
              <a:t>purus</a:t>
            </a:r>
            <a:r>
              <a:rPr lang="hu-HU" dirty="0"/>
              <a:t> </a:t>
            </a:r>
            <a:r>
              <a:rPr lang="hu-HU" dirty="0" err="1"/>
              <a:t>lectus</a:t>
            </a:r>
            <a:r>
              <a:rPr lang="hu-HU" dirty="0"/>
              <a:t>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libero</a:t>
            </a:r>
            <a:r>
              <a:rPr lang="hu-HU" dirty="0"/>
              <a:t>,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quis</a:t>
            </a:r>
            <a:r>
              <a:rPr lang="hu-HU" dirty="0"/>
              <a:t> urna.</a:t>
            </a:r>
          </a:p>
          <a:p>
            <a:pPr rtl="0"/>
            <a:endParaRPr lang="hu-HU" dirty="0"/>
          </a:p>
          <a:p>
            <a:pPr rtl="0"/>
            <a:r>
              <a:rPr lang="hu-HU" dirty="0" err="1"/>
              <a:t>Nunc</a:t>
            </a:r>
            <a:r>
              <a:rPr lang="hu-HU" dirty="0"/>
              <a:t> </a:t>
            </a:r>
            <a:r>
              <a:rPr lang="hu-HU" dirty="0" err="1"/>
              <a:t>viverra</a:t>
            </a:r>
            <a:r>
              <a:rPr lang="hu-HU" dirty="0"/>
              <a:t> </a:t>
            </a:r>
            <a:r>
              <a:rPr lang="hu-HU" dirty="0" err="1"/>
              <a:t>imperdiet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. </a:t>
            </a:r>
            <a:r>
              <a:rPr lang="hu-HU" dirty="0" err="1"/>
              <a:t>Fusce</a:t>
            </a:r>
            <a:r>
              <a:rPr lang="hu-HU" dirty="0"/>
              <a:t> est. </a:t>
            </a:r>
            <a:r>
              <a:rPr lang="hu-HU" dirty="0" err="1"/>
              <a:t>Vivamus</a:t>
            </a:r>
            <a:r>
              <a:rPr lang="hu-HU" dirty="0"/>
              <a:t> a </a:t>
            </a:r>
            <a:r>
              <a:rPr lang="hu-HU" dirty="0" err="1"/>
              <a:t>tellus</a:t>
            </a:r>
            <a:r>
              <a:rPr lang="hu-HU" dirty="0"/>
              <a:t>.</a:t>
            </a:r>
          </a:p>
          <a:p>
            <a:pPr rtl="0"/>
            <a:endParaRPr lang="hu-HU" dirty="0"/>
          </a:p>
          <a:p>
            <a:pPr rtl="0"/>
            <a:r>
              <a:rPr lang="hu-HU" dirty="0" err="1"/>
              <a:t>Pellentesque</a:t>
            </a:r>
            <a:r>
              <a:rPr lang="hu-HU" dirty="0"/>
              <a:t> habitant </a:t>
            </a:r>
            <a:r>
              <a:rPr lang="hu-HU" dirty="0" err="1"/>
              <a:t>morbi</a:t>
            </a:r>
            <a:r>
              <a:rPr lang="hu-HU" dirty="0"/>
              <a:t> </a:t>
            </a:r>
            <a:r>
              <a:rPr lang="hu-HU" dirty="0" err="1"/>
              <a:t>tristique</a:t>
            </a:r>
            <a:r>
              <a:rPr lang="hu-HU" dirty="0"/>
              <a:t> </a:t>
            </a:r>
            <a:r>
              <a:rPr lang="hu-HU" dirty="0" err="1"/>
              <a:t>senectus</a:t>
            </a:r>
            <a:r>
              <a:rPr lang="hu-HU" dirty="0"/>
              <a:t> et </a:t>
            </a:r>
            <a:r>
              <a:rPr lang="hu-HU" dirty="0" err="1"/>
              <a:t>netus</a:t>
            </a:r>
            <a:r>
              <a:rPr lang="hu-HU" dirty="0"/>
              <a:t> et </a:t>
            </a:r>
            <a:r>
              <a:rPr lang="hu-HU" dirty="0" err="1"/>
              <a:t>malesuada</a:t>
            </a:r>
            <a:r>
              <a:rPr lang="hu-HU" dirty="0"/>
              <a:t> </a:t>
            </a:r>
            <a:r>
              <a:rPr lang="hu-HU" dirty="0" err="1"/>
              <a:t>fames</a:t>
            </a:r>
            <a:r>
              <a:rPr lang="hu-HU" dirty="0"/>
              <a:t> </a:t>
            </a:r>
            <a:r>
              <a:rPr lang="hu-HU" dirty="0" err="1"/>
              <a:t>ac</a:t>
            </a:r>
            <a:r>
              <a:rPr lang="hu-HU" dirty="0"/>
              <a:t> turpis </a:t>
            </a:r>
            <a:r>
              <a:rPr lang="hu-HU" dirty="0" err="1"/>
              <a:t>egestas</a:t>
            </a:r>
            <a:r>
              <a:rPr lang="hu-HU" dirty="0"/>
              <a:t>. </a:t>
            </a:r>
            <a:r>
              <a:rPr lang="hu-HU" dirty="0" err="1"/>
              <a:t>Proin</a:t>
            </a:r>
            <a:r>
              <a:rPr lang="hu-HU" dirty="0"/>
              <a:t> </a:t>
            </a:r>
            <a:r>
              <a:rPr lang="hu-HU" dirty="0" err="1"/>
              <a:t>pharetra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pede</a:t>
            </a:r>
            <a:r>
              <a:rPr lang="hu-HU" dirty="0"/>
              <a:t>. </a:t>
            </a:r>
            <a:r>
              <a:rPr lang="hu-HU" dirty="0" err="1"/>
              <a:t>Mauris</a:t>
            </a:r>
            <a:r>
              <a:rPr lang="hu-HU" dirty="0"/>
              <a:t> et </a:t>
            </a:r>
            <a:r>
              <a:rPr lang="hu-HU" dirty="0" err="1"/>
              <a:t>orci</a:t>
            </a:r>
            <a:r>
              <a:rPr lang="hu-HU" dirty="0"/>
              <a:t>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8CB8384-B0BB-4EA8-B9C0-C29BC90F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hu-HU" smtClean="0"/>
              <a:pPr rtl="0"/>
              <a:t>25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B773D43-1954-4F70-800C-0FBF061F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-HU" dirty="0"/>
              <a:t>ÉLŐLÁB HOZZÁADÁSA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FC83A74C-977A-4816-891B-118D588AE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hu-HU" dirty="0"/>
              <a:t>20XX.HH.NN </a:t>
            </a:r>
          </a:p>
        </p:txBody>
      </p:sp>
    </p:spTree>
    <p:extLst>
      <p:ext uri="{BB962C8B-B14F-4D97-AF65-F5344CB8AC3E}">
        <p14:creationId xmlns:p14="http://schemas.microsoft.com/office/powerpoint/2010/main" val="576207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dirty="0"/>
              <a:t>A sablon </a:t>
            </a:r>
            <a:r>
              <a:rPr lang="hu-HU" dirty="0" err="1"/>
              <a:t>testreszabása</a:t>
            </a:r>
            <a:endParaRPr lang="hu-HU" dirty="0"/>
          </a:p>
        </p:txBody>
      </p:sp>
      <p:sp>
        <p:nvSpPr>
          <p:cNvPr id="8" name="Szövegdoboz 7">
            <a:hlinkClick r:id="rId3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459504"/>
            <a:ext cx="9096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hu-HU" sz="6000" b="1" u="sng" dirty="0"/>
              <a:t>Sablonszerkesztési utasítások és visszajelzés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55155_TF56488565" id="{2207422B-20BE-480A-A66F-F9EB08B31407}" vid="{82CF816D-5C22-4A9F-882C-F6DF4C3CF9EC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Futurisztikus befektetői prezentáció</Template>
  <TotalTime>0</TotalTime>
  <Words>2326</Words>
  <Application>Microsoft Office PowerPoint</Application>
  <PresentationFormat>Szélesvásznú</PresentationFormat>
  <Paragraphs>379</Paragraphs>
  <Slides>26</Slides>
  <Notes>26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Gill Sans MT</vt:lpstr>
      <vt:lpstr>Segoe UI</vt:lpstr>
      <vt:lpstr>Segoe UI Light</vt:lpstr>
      <vt:lpstr>Office-téma</vt:lpstr>
      <vt:lpstr>HOTELFLOW  </vt:lpstr>
      <vt:lpstr>BEMUTATKOZÁS</vt:lpstr>
      <vt:lpstr>PROBLÉMA</vt:lpstr>
      <vt:lpstr>MEGOLDÁS</vt:lpstr>
      <vt:lpstr>TERMÉK DIA</vt:lpstr>
      <vt:lpstr>TERMÉK</vt:lpstr>
      <vt:lpstr>ELVÁLASZTÓ</vt:lpstr>
      <vt:lpstr>ÜZLETI MODELL</vt:lpstr>
      <vt:lpstr>PIACI LEHETŐSÉG</vt:lpstr>
      <vt:lpstr>PIAC LEHETŐSÉG</vt:lpstr>
      <vt:lpstr>VERSENYTÁRSAK DIA</vt:lpstr>
      <vt:lpstr>VERSENYTÁRSAK</vt:lpstr>
      <vt:lpstr>NÖVEKEDÉS STRATÉGIA</vt:lpstr>
      <vt:lpstr>FEJLŐDÉS</vt:lpstr>
      <vt:lpstr>ÜTEMTERV</vt:lpstr>
      <vt:lpstr>PÉNZÜGYEK</vt:lpstr>
      <vt:lpstr>A MI CSAPATUNK</vt:lpstr>
      <vt:lpstr>Csapatdia</vt:lpstr>
      <vt:lpstr>FINANSZÍROZÁS</vt:lpstr>
      <vt:lpstr>ÖSSZESÍTÉS</vt:lpstr>
      <vt:lpstr>KÖSZÖNJÜK!</vt:lpstr>
      <vt:lpstr>FÜGGELÉK</vt:lpstr>
      <vt:lpstr>VÉLEMÉNYEK</vt:lpstr>
      <vt:lpstr>ESETTANULMÁNY</vt:lpstr>
      <vt:lpstr>MOBILVERZIÓ</vt:lpstr>
      <vt:lpstr>A sablon testreszabása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HOTELFLOW</dc:title>
  <dc:creator>Szabó Máté</dc:creator>
  <cp:lastModifiedBy>Szabó Máté</cp:lastModifiedBy>
  <cp:revision>2</cp:revision>
  <dcterms:created xsi:type="dcterms:W3CDTF">2026-02-27T11:51:50Z</dcterms:created>
  <dcterms:modified xsi:type="dcterms:W3CDTF">2026-02-27T12:30:48Z</dcterms:modified>
</cp:coreProperties>
</file>